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2"/>
  </p:notesMasterIdLst>
  <p:handoutMasterIdLst>
    <p:handoutMasterId r:id="rId23"/>
  </p:handoutMasterIdLst>
  <p:sldIdLst>
    <p:sldId id="312" r:id="rId5"/>
    <p:sldId id="304" r:id="rId6"/>
    <p:sldId id="307" r:id="rId7"/>
    <p:sldId id="281" r:id="rId8"/>
    <p:sldId id="323" r:id="rId9"/>
    <p:sldId id="324" r:id="rId10"/>
    <p:sldId id="325" r:id="rId11"/>
    <p:sldId id="326" r:id="rId12"/>
    <p:sldId id="282" r:id="rId13"/>
    <p:sldId id="328" r:id="rId14"/>
    <p:sldId id="327" r:id="rId15"/>
    <p:sldId id="314" r:id="rId16"/>
    <p:sldId id="315" r:id="rId17"/>
    <p:sldId id="329" r:id="rId18"/>
    <p:sldId id="330" r:id="rId19"/>
    <p:sldId id="331" r:id="rId20"/>
    <p:sldId id="318" r:id="rId21"/>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88" autoAdjust="0"/>
  </p:normalViewPr>
  <p:slideViewPr>
    <p:cSldViewPr snapToGrid="0" snapToObjects="1">
      <p:cViewPr>
        <p:scale>
          <a:sx n="50" d="100"/>
          <a:sy n="50" d="100"/>
        </p:scale>
        <p:origin x="1284" y="40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hyperlink" Target="https://pixabay.com/en/violin-lighting-creative-music-292148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i="1" dirty="0"/>
              <a:t>Amazon Music Clustering</a:t>
            </a: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lnSpcReduction="10000"/>
          </a:bodyPr>
          <a:lstStyle/>
          <a:p>
            <a:r>
              <a:rPr lang="en-US" dirty="0"/>
              <a:t>Introduction</a:t>
            </a:r>
          </a:p>
          <a:p>
            <a:r>
              <a:rPr lang="en-US" dirty="0"/>
              <a:t>Business Use Cases &amp; Objectives</a:t>
            </a:r>
          </a:p>
          <a:p>
            <a:r>
              <a:rPr lang="en-US" dirty="0"/>
              <a:t>Data</a:t>
            </a:r>
            <a:r>
              <a:rPr lang="en-US" b="1" dirty="0"/>
              <a:t> </a:t>
            </a:r>
            <a:r>
              <a:rPr lang="en-US" dirty="0"/>
              <a:t>Understanding</a:t>
            </a:r>
            <a:r>
              <a:rPr lang="en-US" b="1" dirty="0"/>
              <a:t> </a:t>
            </a:r>
            <a:r>
              <a:rPr lang="en-US" dirty="0"/>
              <a:t>&amp;</a:t>
            </a:r>
            <a:r>
              <a:rPr lang="en-US" b="1" dirty="0"/>
              <a:t> </a:t>
            </a:r>
            <a:r>
              <a:rPr lang="en-US" dirty="0"/>
              <a:t>Preprocessing</a:t>
            </a:r>
            <a:br>
              <a:rPr lang="en-US" dirty="0"/>
            </a:br>
            <a:r>
              <a:rPr lang="en-US" dirty="0"/>
              <a:t>Clustering Methodology</a:t>
            </a:r>
          </a:p>
          <a:p>
            <a:r>
              <a:rPr lang="en-US" dirty="0"/>
              <a:t>Conclusion</a:t>
            </a:r>
            <a:br>
              <a:rPr lang="en-US" dirty="0"/>
            </a:br>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4467225" y="447674"/>
            <a:ext cx="6958802" cy="4937125"/>
          </a:xfrm>
        </p:spPr>
        <p:txBody>
          <a:bodyPr/>
          <a:lstStyle/>
          <a:p>
            <a:r>
              <a:rPr lang="en-US" i="1" u="sng" dirty="0">
                <a:cs typeface="Calibri" panose="020F0502020204030204" pitchFamily="34" charset="0"/>
              </a:rPr>
              <a:t>INTRODUCTION</a:t>
            </a:r>
            <a:br>
              <a:rPr lang="en-US" sz="1600" dirty="0"/>
            </a:br>
            <a:br>
              <a:rPr lang="en-US" sz="1600" b="0" cap="none" dirty="0">
                <a:solidFill>
                  <a:schemeClr val="tx1"/>
                </a:solidFill>
              </a:rPr>
            </a:br>
            <a:r>
              <a:rPr lang="en-US" sz="1600" b="0" cap="none" dirty="0">
                <a:solidFill>
                  <a:schemeClr val="tx1"/>
                </a:solidFill>
                <a:latin typeface="Calibri" panose="020F0502020204030204" pitchFamily="34" charset="0"/>
                <a:cs typeface="Calibri" panose="020F0502020204030204" pitchFamily="34" charset="0"/>
              </a:rPr>
              <a:t>	</a:t>
            </a:r>
            <a:r>
              <a:rPr lang="en-US" sz="2000" b="0" cap="none" dirty="0">
                <a:solidFill>
                  <a:schemeClr val="tx1"/>
                </a:solidFill>
                <a:latin typeface="Calibri" panose="020F0502020204030204" pitchFamily="34" charset="0"/>
                <a:cs typeface="Calibri" panose="020F0502020204030204" pitchFamily="34" charset="0"/>
              </a:rPr>
              <a:t>This project focuses on analyzing and grouping songs from amazon music using machine learning techniques. By applying clustering algorithms like   K-Means and DBSCAN, songs are grouped based on their musical features such as danceability, energy, tempo, valence, and loudness.</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	The main goal is to discover patterns and similarities between songs so that we can create meaningful clusters. This helps in better playlist recommendations, user experience enhancement, and trend analysis in the music industry.</a:t>
            </a:r>
            <a:br>
              <a:rPr lang="en-US" sz="2000" dirty="0"/>
            </a:br>
            <a:br>
              <a:rPr lang="en-US" sz="1600" dirty="0"/>
            </a:br>
            <a:endParaRPr lang="en-US" sz="1600" dirty="0"/>
          </a:p>
        </p:txBody>
      </p:sp>
      <p:pic>
        <p:nvPicPr>
          <p:cNvPr id="4" name="Picture 3">
            <a:extLst>
              <a:ext uri="{FF2B5EF4-FFF2-40B4-BE49-F238E27FC236}">
                <a16:creationId xmlns:a16="http://schemas.microsoft.com/office/drawing/2014/main" id="{E300DAC3-E3D0-85D6-BD94-C4A798790360}"/>
              </a:ext>
            </a:extLst>
          </p:cNvPr>
          <p:cNvPicPr>
            <a:picLocks noChangeAspect="1"/>
          </p:cNvPicPr>
          <p:nvPr/>
        </p:nvPicPr>
        <p:blipFill>
          <a:blip r:embed="rId3"/>
          <a:stretch>
            <a:fillRect/>
          </a:stretch>
        </p:blipFill>
        <p:spPr>
          <a:xfrm>
            <a:off x="443345" y="76200"/>
            <a:ext cx="3595255" cy="6273800"/>
          </a:xfrm>
          <a:prstGeom prst="rect">
            <a:avLst/>
          </a:prstGeom>
        </p:spPr>
      </p:pic>
      <p:sp>
        <p:nvSpPr>
          <p:cNvPr id="6" name="Picture Placeholder 5">
            <a:extLst>
              <a:ext uri="{FF2B5EF4-FFF2-40B4-BE49-F238E27FC236}">
                <a16:creationId xmlns:a16="http://schemas.microsoft.com/office/drawing/2014/main" id="{B5DA222C-DBC6-05D3-3E3E-1FD563233DEB}"/>
              </a:ext>
            </a:extLst>
          </p:cNvPr>
          <p:cNvSpPr>
            <a:spLocks noGrp="1"/>
          </p:cNvSpPr>
          <p:nvPr>
            <p:ph type="pic" sz="quarter" idx="11"/>
          </p:nvPr>
        </p:nvSpPr>
        <p:spPr>
          <a:xfrm>
            <a:off x="443345" y="66675"/>
            <a:ext cx="3595255" cy="6273800"/>
          </a:xfrm>
        </p:spPr>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1057274"/>
            <a:ext cx="6311900" cy="5127626"/>
          </a:xfrm>
        </p:spPr>
        <p:txBody>
          <a:bodyPr/>
          <a:lstStyle/>
          <a:p>
            <a:r>
              <a:rPr lang="en-US" i="1" u="sng" dirty="0">
                <a:cs typeface="Calibri" panose="020F0502020204030204" pitchFamily="34" charset="0"/>
              </a:rPr>
              <a:t>OBJECTIVES</a:t>
            </a:r>
            <a:br>
              <a:rPr lang="en-US" i="1" u="sng" dirty="0">
                <a:cs typeface="Calibri" panose="020F0502020204030204" pitchFamily="34" charset="0"/>
              </a:rPr>
            </a:br>
            <a:br>
              <a:rPr lang="en-US" sz="2400" i="1" u="sng" dirty="0">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The main objective of this project is to group songs with similar musical characteristics using clustering techniques. By analyzing features such as danceability, tempo, energy, and valence, the project aims to:</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	</a:t>
            </a:r>
            <a:r>
              <a:rPr lang="en-US" sz="2000" cap="none" dirty="0">
                <a:solidFill>
                  <a:schemeClr val="tx1"/>
                </a:solidFill>
                <a:latin typeface="Calibri" panose="020F0502020204030204" pitchFamily="34" charset="0"/>
                <a:cs typeface="Calibri" panose="020F0502020204030204" pitchFamily="34" charset="0"/>
              </a:rPr>
              <a:t>identify hidden patterns and similarities among songs.</a:t>
            </a:r>
            <a:br>
              <a:rPr lang="en-US" sz="2000" cap="none" dirty="0">
                <a:solidFill>
                  <a:schemeClr val="tx1"/>
                </a:solidFill>
                <a:latin typeface="Calibri" panose="020F0502020204030204" pitchFamily="34" charset="0"/>
                <a:cs typeface="Calibri" panose="020F0502020204030204" pitchFamily="34" charset="0"/>
              </a:rPr>
            </a:br>
            <a:r>
              <a:rPr lang="en-US" sz="2000" cap="none" dirty="0">
                <a:solidFill>
                  <a:schemeClr val="tx1"/>
                </a:solidFill>
                <a:latin typeface="Calibri" panose="020F0502020204030204" pitchFamily="34" charset="0"/>
                <a:cs typeface="Calibri" panose="020F0502020204030204" pitchFamily="34" charset="0"/>
              </a:rPr>
              <a:t>	Create clusters that represent different moods or genres.</a:t>
            </a:r>
            <a:br>
              <a:rPr lang="en-US" sz="2000" cap="none" dirty="0">
                <a:solidFill>
                  <a:schemeClr val="tx1"/>
                </a:solidFill>
                <a:latin typeface="Calibri" panose="020F0502020204030204" pitchFamily="34" charset="0"/>
                <a:cs typeface="Calibri" panose="020F0502020204030204" pitchFamily="34" charset="0"/>
              </a:rPr>
            </a:br>
            <a:r>
              <a:rPr lang="en-US" sz="2000" cap="none" dirty="0">
                <a:solidFill>
                  <a:schemeClr val="tx1"/>
                </a:solidFill>
                <a:latin typeface="Calibri" panose="020F0502020204030204" pitchFamily="34" charset="0"/>
                <a:cs typeface="Calibri" panose="020F0502020204030204" pitchFamily="34" charset="0"/>
              </a:rPr>
              <a:t>	Help in automatic playlist creation and music recommendation.</a:t>
            </a:r>
            <a:br>
              <a:rPr lang="en-US" sz="2000" cap="none" dirty="0">
                <a:solidFill>
                  <a:schemeClr val="tx1"/>
                </a:solidFill>
                <a:latin typeface="Calibri" panose="020F0502020204030204" pitchFamily="34" charset="0"/>
                <a:cs typeface="Calibri" panose="020F0502020204030204" pitchFamily="34" charset="0"/>
              </a:rPr>
            </a:br>
            <a:r>
              <a:rPr lang="en-US" sz="2000" cap="none" dirty="0">
                <a:solidFill>
                  <a:schemeClr val="tx1"/>
                </a:solidFill>
                <a:latin typeface="Calibri" panose="020F0502020204030204" pitchFamily="34" charset="0"/>
                <a:cs typeface="Calibri" panose="020F0502020204030204" pitchFamily="34" charset="0"/>
              </a:rPr>
              <a:t>	Provide insights for artists, listeners, and music platforms to understand audience preferences.</a:t>
            </a:r>
            <a:br>
              <a:rPr lang="en-US" sz="2000" dirty="0"/>
            </a:br>
            <a:endParaRPr lang="en-US" sz="2000" i="1" u="sng" dirty="0">
              <a:latin typeface="Calibri" panose="020F0502020204030204" pitchFamily="34" charset="0"/>
              <a:cs typeface="Calibri" panose="020F0502020204030204" pitchFamily="34" charset="0"/>
            </a:endParaRPr>
          </a:p>
        </p:txBody>
      </p:sp>
      <p:pic>
        <p:nvPicPr>
          <p:cNvPr id="5" name="Picture 4" descr="Greylag goose in-flight">
            <a:extLst>
              <a:ext uri="{FF2B5EF4-FFF2-40B4-BE49-F238E27FC236}">
                <a16:creationId xmlns:a16="http://schemas.microsoft.com/office/drawing/2014/main" id="{6A4AE51D-E2EC-D462-9762-A77EEF5BD9DA}"/>
              </a:ext>
            </a:extLst>
          </p:cNvPr>
          <p:cNvPicPr>
            <a:picLocks noChangeAspect="1"/>
          </p:cNvPicPr>
          <p:nvPr/>
        </p:nvPicPr>
        <p:blipFill>
          <a:blip r:embed="rId3"/>
          <a:stretch>
            <a:fillRect/>
          </a:stretch>
        </p:blipFill>
        <p:spPr>
          <a:xfrm>
            <a:off x="7645400" y="355600"/>
            <a:ext cx="4406900" cy="6413500"/>
          </a:xfrm>
          <a:prstGeom prst="rect">
            <a:avLst/>
          </a:prstGeom>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1E80619-726B-19D0-1A0B-32D63DD2EF84}"/>
              </a:ext>
            </a:extLst>
          </p:cNvPr>
          <p:cNvSpPr txBox="1"/>
          <p:nvPr/>
        </p:nvSpPr>
        <p:spPr>
          <a:xfrm>
            <a:off x="736600" y="777808"/>
            <a:ext cx="10591800" cy="646331"/>
          </a:xfrm>
          <a:prstGeom prst="rect">
            <a:avLst/>
          </a:prstGeom>
          <a:noFill/>
        </p:spPr>
        <p:txBody>
          <a:bodyPr wrap="square">
            <a:spAutoFit/>
          </a:bodyPr>
          <a:lstStyle/>
          <a:p>
            <a:r>
              <a:rPr lang="en-US" sz="3600" b="1" i="1" u="sng" dirty="0">
                <a:solidFill>
                  <a:schemeClr val="accent6"/>
                </a:solidFill>
                <a:latin typeface="Arial Black" panose="020B0A04020102020204" pitchFamily="34" charset="0"/>
                <a:cs typeface="Calibri" panose="020F0502020204030204" pitchFamily="34" charset="0"/>
              </a:rPr>
              <a:t>Data Understanding &amp; Preprocessing</a:t>
            </a:r>
            <a:endParaRPr lang="en-US" sz="3600" b="1" i="1" dirty="0">
              <a:solidFill>
                <a:schemeClr val="accent6"/>
              </a:solidFill>
              <a:latin typeface="Arial Black" panose="020B0A04020102020204" pitchFamily="34" charset="0"/>
            </a:endParaRPr>
          </a:p>
        </p:txBody>
      </p:sp>
      <p:sp>
        <p:nvSpPr>
          <p:cNvPr id="9" name="TextBox 8">
            <a:extLst>
              <a:ext uri="{FF2B5EF4-FFF2-40B4-BE49-F238E27FC236}">
                <a16:creationId xmlns:a16="http://schemas.microsoft.com/office/drawing/2014/main" id="{5AEDDD31-2572-0F75-B7BB-2680C5A035A7}"/>
              </a:ext>
            </a:extLst>
          </p:cNvPr>
          <p:cNvSpPr txBox="1"/>
          <p:nvPr/>
        </p:nvSpPr>
        <p:spPr>
          <a:xfrm>
            <a:off x="1397000" y="1549400"/>
            <a:ext cx="7740650" cy="954107"/>
          </a:xfrm>
          <a:prstGeom prst="rect">
            <a:avLst/>
          </a:prstGeom>
          <a:noFill/>
        </p:spPr>
        <p:txBody>
          <a:bodyPr wrap="square">
            <a:spAutoFit/>
          </a:bodyPr>
          <a:lstStyle/>
          <a:p>
            <a:r>
              <a:rPr lang="en-US" sz="2800" dirty="0"/>
              <a:t>Raw Data  ➜  Cleaned Data  ➜  Engineered Features  ➜  Scaled Data</a:t>
            </a:r>
          </a:p>
        </p:txBody>
      </p:sp>
      <p:sp>
        <p:nvSpPr>
          <p:cNvPr id="10" name="TextBox 9">
            <a:extLst>
              <a:ext uri="{FF2B5EF4-FFF2-40B4-BE49-F238E27FC236}">
                <a16:creationId xmlns:a16="http://schemas.microsoft.com/office/drawing/2014/main" id="{7B63103C-E8BE-4E0B-CF21-5B9EB1E875E0}"/>
              </a:ext>
            </a:extLst>
          </p:cNvPr>
          <p:cNvSpPr txBox="1"/>
          <p:nvPr/>
        </p:nvSpPr>
        <p:spPr>
          <a:xfrm rot="10800000" flipV="1">
            <a:off x="901700" y="3013489"/>
            <a:ext cx="7451724" cy="400110"/>
          </a:xfrm>
          <a:prstGeom prst="rect">
            <a:avLst/>
          </a:prstGeom>
          <a:noFill/>
        </p:spPr>
        <p:txBody>
          <a:bodyPr wrap="square" rtlCol="0">
            <a:spAutoFit/>
          </a:bodyPr>
          <a:lstStyle/>
          <a:p>
            <a:r>
              <a:rPr lang="en-US" sz="2000" b="1" u="sng" dirty="0"/>
              <a:t>1. RAW &amp; CLEANED DATA DETAILS:</a:t>
            </a:r>
            <a:endParaRPr lang="en-US" dirty="0"/>
          </a:p>
        </p:txBody>
      </p:sp>
      <p:graphicFrame>
        <p:nvGraphicFramePr>
          <p:cNvPr id="11" name="Content Placeholder 3">
            <a:extLst>
              <a:ext uri="{FF2B5EF4-FFF2-40B4-BE49-F238E27FC236}">
                <a16:creationId xmlns:a16="http://schemas.microsoft.com/office/drawing/2014/main" id="{CBE40DF8-4B7A-398A-CBB4-7F176A7D430A}"/>
              </a:ext>
            </a:extLst>
          </p:cNvPr>
          <p:cNvGraphicFramePr>
            <a:graphicFrameLocks/>
          </p:cNvGraphicFramePr>
          <p:nvPr>
            <p:extLst>
              <p:ext uri="{D42A27DB-BD31-4B8C-83A1-F6EECF244321}">
                <p14:modId xmlns:p14="http://schemas.microsoft.com/office/powerpoint/2010/main" val="704395426"/>
              </p:ext>
            </p:extLst>
          </p:nvPr>
        </p:nvGraphicFramePr>
        <p:xfrm>
          <a:off x="901700" y="3766283"/>
          <a:ext cx="6108700" cy="2177316"/>
        </p:xfrm>
        <a:graphic>
          <a:graphicData uri="http://schemas.openxmlformats.org/drawingml/2006/table">
            <a:tbl>
              <a:tblPr/>
              <a:tblGrid>
                <a:gridCol w="3054350">
                  <a:extLst>
                    <a:ext uri="{9D8B030D-6E8A-4147-A177-3AD203B41FA5}">
                      <a16:colId xmlns:a16="http://schemas.microsoft.com/office/drawing/2014/main" val="1103555994"/>
                    </a:ext>
                  </a:extLst>
                </a:gridCol>
                <a:gridCol w="3054350">
                  <a:extLst>
                    <a:ext uri="{9D8B030D-6E8A-4147-A177-3AD203B41FA5}">
                      <a16:colId xmlns:a16="http://schemas.microsoft.com/office/drawing/2014/main" val="1306528705"/>
                    </a:ext>
                  </a:extLst>
                </a:gridCol>
              </a:tblGrid>
              <a:tr h="308982">
                <a:tc>
                  <a:txBody>
                    <a:bodyPr/>
                    <a:lstStyle/>
                    <a:p>
                      <a:r>
                        <a:rPr lang="en-US" sz="2000" b="1" dirty="0">
                          <a:solidFill>
                            <a:schemeClr val="accent6"/>
                          </a:solidFill>
                          <a:latin typeface="Calibri" panose="020F0502020204030204" pitchFamily="34" charset="0"/>
                          <a:cs typeface="Calibri" panose="020F0502020204030204" pitchFamily="34" charset="0"/>
                        </a:rPr>
                        <a:t>Metric</a:t>
                      </a:r>
                    </a:p>
                  </a:txBody>
                  <a:tcPr marL="68247" marR="68247" marT="34123" marB="34123" anchor="ctr">
                    <a:lnL>
                      <a:noFill/>
                    </a:lnL>
                    <a:lnR>
                      <a:noFill/>
                    </a:lnR>
                    <a:lnT>
                      <a:noFill/>
                    </a:lnT>
                    <a:lnB>
                      <a:noFill/>
                    </a:lnB>
                  </a:tcPr>
                </a:tc>
                <a:tc>
                  <a:txBody>
                    <a:bodyPr/>
                    <a:lstStyle/>
                    <a:p>
                      <a:r>
                        <a:rPr lang="en-US" sz="2000" b="1" dirty="0">
                          <a:solidFill>
                            <a:schemeClr val="accent6"/>
                          </a:solidFill>
                          <a:latin typeface="Calibri" panose="020F0502020204030204" pitchFamily="34" charset="0"/>
                          <a:cs typeface="Calibri" panose="020F0502020204030204" pitchFamily="34" charset="0"/>
                        </a:rPr>
                        <a:t>Value</a:t>
                      </a:r>
                    </a:p>
                  </a:txBody>
                  <a:tcPr marL="68247" marR="68247" marT="34123" marB="34123" anchor="ctr">
                    <a:lnL>
                      <a:noFill/>
                    </a:lnL>
                    <a:lnR>
                      <a:noFill/>
                    </a:lnR>
                    <a:lnT>
                      <a:noFill/>
                    </a:lnT>
                    <a:lnB>
                      <a:noFill/>
                    </a:lnB>
                  </a:tcPr>
                </a:tc>
                <a:extLst>
                  <a:ext uri="{0D108BD9-81ED-4DB2-BD59-A6C34878D82A}">
                    <a16:rowId xmlns:a16="http://schemas.microsoft.com/office/drawing/2014/main" val="712968921"/>
                  </a:ext>
                </a:extLst>
              </a:tr>
              <a:tr h="308982">
                <a:tc>
                  <a:txBody>
                    <a:bodyPr/>
                    <a:lstStyle/>
                    <a:p>
                      <a:r>
                        <a:rPr lang="en-US" sz="2000" b="1" dirty="0">
                          <a:solidFill>
                            <a:schemeClr val="accent1">
                              <a:lumMod val="50000"/>
                            </a:schemeClr>
                          </a:solidFill>
                          <a:latin typeface="Calibri" panose="020F0502020204030204" pitchFamily="34" charset="0"/>
                          <a:cs typeface="Calibri" panose="020F0502020204030204" pitchFamily="34" charset="0"/>
                        </a:rPr>
                        <a:t>Total Songs</a:t>
                      </a:r>
                    </a:p>
                  </a:txBody>
                  <a:tcPr marL="68247" marR="68247" marT="34123" marB="34123" anchor="ctr">
                    <a:lnL>
                      <a:noFill/>
                    </a:lnL>
                    <a:lnR>
                      <a:noFill/>
                    </a:lnR>
                    <a:lnT>
                      <a:noFill/>
                    </a:lnT>
                    <a:lnB>
                      <a:noFill/>
                    </a:lnB>
                  </a:tcPr>
                </a:tc>
                <a:tc>
                  <a:txBody>
                    <a:bodyPr/>
                    <a:lstStyle/>
                    <a:p>
                      <a:r>
                        <a:rPr lang="en-US" sz="2000" b="1" i="0" kern="1200" dirty="0">
                          <a:solidFill>
                            <a:schemeClr val="tx1"/>
                          </a:solidFill>
                          <a:effectLst/>
                          <a:latin typeface="+mn-lt"/>
                          <a:ea typeface="+mn-ea"/>
                          <a:cs typeface="+mn-cs"/>
                        </a:rPr>
                        <a:t>95837</a:t>
                      </a:r>
                      <a:endParaRPr lang="en-US" sz="2000" b="1" dirty="0">
                        <a:latin typeface="Calibri" panose="020F0502020204030204" pitchFamily="34" charset="0"/>
                        <a:cs typeface="Calibri" panose="020F0502020204030204" pitchFamily="34" charset="0"/>
                      </a:endParaRPr>
                    </a:p>
                  </a:txBody>
                  <a:tcPr marL="68247" marR="68247" marT="34123" marB="34123" anchor="ctr">
                    <a:lnL>
                      <a:noFill/>
                    </a:lnL>
                    <a:lnR>
                      <a:noFill/>
                    </a:lnR>
                    <a:lnT>
                      <a:noFill/>
                    </a:lnT>
                    <a:lnB>
                      <a:noFill/>
                    </a:lnB>
                  </a:tcPr>
                </a:tc>
                <a:extLst>
                  <a:ext uri="{0D108BD9-81ED-4DB2-BD59-A6C34878D82A}">
                    <a16:rowId xmlns:a16="http://schemas.microsoft.com/office/drawing/2014/main" val="1647700890"/>
                  </a:ext>
                </a:extLst>
              </a:tr>
              <a:tr h="308982">
                <a:tc>
                  <a:txBody>
                    <a:bodyPr/>
                    <a:lstStyle/>
                    <a:p>
                      <a:r>
                        <a:rPr lang="en-US" sz="2000" b="1" dirty="0">
                          <a:solidFill>
                            <a:schemeClr val="accent1">
                              <a:lumMod val="50000"/>
                            </a:schemeClr>
                          </a:solidFill>
                          <a:latin typeface="Calibri" panose="020F0502020204030204" pitchFamily="34" charset="0"/>
                          <a:cs typeface="Calibri" panose="020F0502020204030204" pitchFamily="34" charset="0"/>
                        </a:rPr>
                        <a:t>Columns Before Cleaning</a:t>
                      </a:r>
                    </a:p>
                  </a:txBody>
                  <a:tcPr marL="68247" marR="68247" marT="34123" marB="34123" anchor="ctr">
                    <a:lnL>
                      <a:noFill/>
                    </a:lnL>
                    <a:lnR>
                      <a:noFill/>
                    </a:lnR>
                    <a:lnT>
                      <a:noFill/>
                    </a:lnT>
                    <a:lnB>
                      <a:noFill/>
                    </a:lnB>
                  </a:tcPr>
                </a:tc>
                <a:tc>
                  <a:txBody>
                    <a:bodyPr/>
                    <a:lstStyle/>
                    <a:p>
                      <a:r>
                        <a:rPr lang="en-US" sz="2000" b="1" dirty="0">
                          <a:latin typeface="Calibri" panose="020F0502020204030204" pitchFamily="34" charset="0"/>
                          <a:cs typeface="Calibri" panose="020F0502020204030204" pitchFamily="34" charset="0"/>
                        </a:rPr>
                        <a:t>23</a:t>
                      </a:r>
                    </a:p>
                  </a:txBody>
                  <a:tcPr marL="68247" marR="68247" marT="34123" marB="34123" anchor="ctr">
                    <a:lnL>
                      <a:noFill/>
                    </a:lnL>
                    <a:lnR>
                      <a:noFill/>
                    </a:lnR>
                    <a:lnT>
                      <a:noFill/>
                    </a:lnT>
                    <a:lnB>
                      <a:noFill/>
                    </a:lnB>
                  </a:tcPr>
                </a:tc>
                <a:extLst>
                  <a:ext uri="{0D108BD9-81ED-4DB2-BD59-A6C34878D82A}">
                    <a16:rowId xmlns:a16="http://schemas.microsoft.com/office/drawing/2014/main" val="949225243"/>
                  </a:ext>
                </a:extLst>
              </a:tr>
              <a:tr h="308982">
                <a:tc>
                  <a:txBody>
                    <a:bodyPr/>
                    <a:lstStyle/>
                    <a:p>
                      <a:r>
                        <a:rPr lang="en-US" sz="2000" b="1" dirty="0">
                          <a:solidFill>
                            <a:schemeClr val="accent1">
                              <a:lumMod val="50000"/>
                            </a:schemeClr>
                          </a:solidFill>
                          <a:latin typeface="Calibri" panose="020F0502020204030204" pitchFamily="34" charset="0"/>
                          <a:cs typeface="Calibri" panose="020F0502020204030204" pitchFamily="34" charset="0"/>
                        </a:rPr>
                        <a:t>Columns After Cleaning</a:t>
                      </a:r>
                    </a:p>
                  </a:txBody>
                  <a:tcPr marL="68247" marR="68247" marT="34123" marB="34123" anchor="ctr">
                    <a:lnL>
                      <a:noFill/>
                    </a:lnL>
                    <a:lnR>
                      <a:noFill/>
                    </a:lnR>
                    <a:lnT>
                      <a:noFill/>
                    </a:lnT>
                    <a:lnB>
                      <a:noFill/>
                    </a:lnB>
                  </a:tcPr>
                </a:tc>
                <a:tc>
                  <a:txBody>
                    <a:bodyPr/>
                    <a:lstStyle/>
                    <a:p>
                      <a:r>
                        <a:rPr lang="en-US" sz="2000" b="1" dirty="0">
                          <a:latin typeface="Calibri" panose="020F0502020204030204" pitchFamily="34" charset="0"/>
                          <a:cs typeface="Calibri" panose="020F0502020204030204" pitchFamily="34" charset="0"/>
                        </a:rPr>
                        <a:t>11</a:t>
                      </a:r>
                    </a:p>
                  </a:txBody>
                  <a:tcPr marL="68247" marR="68247" marT="34123" marB="34123" anchor="ctr">
                    <a:lnL>
                      <a:noFill/>
                    </a:lnL>
                    <a:lnR>
                      <a:noFill/>
                    </a:lnR>
                    <a:lnT>
                      <a:noFill/>
                    </a:lnT>
                    <a:lnB>
                      <a:noFill/>
                    </a:lnB>
                  </a:tcPr>
                </a:tc>
                <a:extLst>
                  <a:ext uri="{0D108BD9-81ED-4DB2-BD59-A6C34878D82A}">
                    <a16:rowId xmlns:a16="http://schemas.microsoft.com/office/drawing/2014/main" val="2083485204"/>
                  </a:ext>
                </a:extLst>
              </a:tr>
              <a:tr h="308982">
                <a:tc>
                  <a:txBody>
                    <a:bodyPr/>
                    <a:lstStyle/>
                    <a:p>
                      <a:r>
                        <a:rPr lang="en-US" sz="2000" b="1" dirty="0">
                          <a:solidFill>
                            <a:schemeClr val="accent1">
                              <a:lumMod val="50000"/>
                            </a:schemeClr>
                          </a:solidFill>
                          <a:latin typeface="Calibri" panose="020F0502020204030204" pitchFamily="34" charset="0"/>
                          <a:cs typeface="Calibri" panose="020F0502020204030204" pitchFamily="34" charset="0"/>
                        </a:rPr>
                        <a:t>Missing Values</a:t>
                      </a:r>
                    </a:p>
                  </a:txBody>
                  <a:tcPr marL="68247" marR="68247" marT="34123" marB="34123" anchor="ctr">
                    <a:lnL>
                      <a:noFill/>
                    </a:lnL>
                    <a:lnR>
                      <a:noFill/>
                    </a:lnR>
                    <a:lnT>
                      <a:noFill/>
                    </a:lnT>
                    <a:lnB>
                      <a:noFill/>
                    </a:lnB>
                  </a:tcPr>
                </a:tc>
                <a:tc>
                  <a:txBody>
                    <a:bodyPr/>
                    <a:lstStyle/>
                    <a:p>
                      <a:r>
                        <a:rPr lang="en-US" sz="2000" b="1" dirty="0">
                          <a:latin typeface="Calibri" panose="020F0502020204030204" pitchFamily="34" charset="0"/>
                          <a:cs typeface="Calibri" panose="020F0502020204030204" pitchFamily="34" charset="0"/>
                        </a:rPr>
                        <a:t>Removed</a:t>
                      </a:r>
                    </a:p>
                  </a:txBody>
                  <a:tcPr marL="68247" marR="68247" marT="34123" marB="34123" anchor="ctr">
                    <a:lnL>
                      <a:noFill/>
                    </a:lnL>
                    <a:lnR>
                      <a:noFill/>
                    </a:lnR>
                    <a:lnT>
                      <a:noFill/>
                    </a:lnT>
                    <a:lnB>
                      <a:noFill/>
                    </a:lnB>
                  </a:tcPr>
                </a:tc>
                <a:extLst>
                  <a:ext uri="{0D108BD9-81ED-4DB2-BD59-A6C34878D82A}">
                    <a16:rowId xmlns:a16="http://schemas.microsoft.com/office/drawing/2014/main" val="3670683192"/>
                  </a:ext>
                </a:extLst>
              </a:tr>
              <a:tr h="258491">
                <a:tc>
                  <a:txBody>
                    <a:bodyPr/>
                    <a:lstStyle/>
                    <a:p>
                      <a:endParaRPr lang="en-US" sz="1600" b="1" dirty="0">
                        <a:solidFill>
                          <a:schemeClr val="accent1">
                            <a:lumMod val="50000"/>
                          </a:schemeClr>
                        </a:solidFill>
                        <a:latin typeface="Calibri" panose="020F0502020204030204" pitchFamily="34" charset="0"/>
                        <a:cs typeface="Calibri" panose="020F0502020204030204" pitchFamily="34" charset="0"/>
                      </a:endParaRPr>
                    </a:p>
                  </a:txBody>
                  <a:tcPr marL="68247" marR="68247" marT="34123" marB="34123" anchor="ctr">
                    <a:lnL>
                      <a:noFill/>
                    </a:lnL>
                    <a:lnR>
                      <a:noFill/>
                    </a:lnR>
                    <a:lnT>
                      <a:noFill/>
                    </a:lnT>
                    <a:lnB>
                      <a:noFill/>
                    </a:lnB>
                  </a:tcPr>
                </a:tc>
                <a:tc>
                  <a:txBody>
                    <a:bodyPr/>
                    <a:lstStyle/>
                    <a:p>
                      <a:endParaRPr lang="en-US" sz="1600" b="1" dirty="0">
                        <a:latin typeface="Calibri" panose="020F0502020204030204" pitchFamily="34" charset="0"/>
                        <a:cs typeface="Calibri" panose="020F0502020204030204" pitchFamily="34" charset="0"/>
                      </a:endParaRPr>
                    </a:p>
                  </a:txBody>
                  <a:tcPr marL="68247" marR="68247" marT="34123" marB="34123" anchor="ctr">
                    <a:lnL>
                      <a:noFill/>
                    </a:lnL>
                    <a:lnR>
                      <a:noFill/>
                    </a:lnR>
                    <a:lnT>
                      <a:noFill/>
                    </a:lnT>
                    <a:lnB>
                      <a:noFill/>
                    </a:lnB>
                  </a:tcPr>
                </a:tc>
                <a:extLst>
                  <a:ext uri="{0D108BD9-81ED-4DB2-BD59-A6C34878D82A}">
                    <a16:rowId xmlns:a16="http://schemas.microsoft.com/office/drawing/2014/main" val="1400576485"/>
                  </a:ext>
                </a:extLst>
              </a:tr>
            </a:tbl>
          </a:graphicData>
        </a:graphic>
      </p:graphicFrame>
    </p:spTree>
    <p:extLst>
      <p:ext uri="{BB962C8B-B14F-4D97-AF65-F5344CB8AC3E}">
        <p14:creationId xmlns:p14="http://schemas.microsoft.com/office/powerpoint/2010/main" val="3387852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00CBE6-2D48-9CF5-498E-B3D306584FC8}"/>
              </a:ext>
            </a:extLst>
          </p:cNvPr>
          <p:cNvSpPr txBox="1"/>
          <p:nvPr/>
        </p:nvSpPr>
        <p:spPr>
          <a:xfrm flipH="1">
            <a:off x="647700" y="977900"/>
            <a:ext cx="9131300" cy="400110"/>
          </a:xfrm>
          <a:prstGeom prst="rect">
            <a:avLst/>
          </a:prstGeom>
          <a:noFill/>
        </p:spPr>
        <p:txBody>
          <a:bodyPr wrap="square" rtlCol="0">
            <a:spAutoFit/>
          </a:bodyPr>
          <a:lstStyle/>
          <a:p>
            <a:r>
              <a:rPr lang="en-US" sz="2000" b="1" u="sng" dirty="0"/>
              <a:t>2. FEATURE ENGINEERING</a:t>
            </a:r>
          </a:p>
        </p:txBody>
      </p:sp>
      <p:sp>
        <p:nvSpPr>
          <p:cNvPr id="6" name="TextBox 5">
            <a:extLst>
              <a:ext uri="{FF2B5EF4-FFF2-40B4-BE49-F238E27FC236}">
                <a16:creationId xmlns:a16="http://schemas.microsoft.com/office/drawing/2014/main" id="{CACDDF48-39D8-1C58-9EDC-19B4B943E162}"/>
              </a:ext>
            </a:extLst>
          </p:cNvPr>
          <p:cNvSpPr txBox="1"/>
          <p:nvPr/>
        </p:nvSpPr>
        <p:spPr>
          <a:xfrm>
            <a:off x="558800" y="1714500"/>
            <a:ext cx="11112500" cy="400110"/>
          </a:xfrm>
          <a:prstGeom prst="rect">
            <a:avLst/>
          </a:prstGeom>
          <a:noFill/>
        </p:spPr>
        <p:txBody>
          <a:bodyPr wrap="square" rtlCol="0">
            <a:spAutoFit/>
          </a:bodyPr>
          <a:lstStyle/>
          <a:p>
            <a:r>
              <a:rPr lang="en-US" dirty="0"/>
              <a:t>To create new </a:t>
            </a:r>
            <a:r>
              <a:rPr lang="en-US" sz="2000" dirty="0">
                <a:latin typeface="Calibri" panose="020F0502020204030204" pitchFamily="34" charset="0"/>
                <a:cs typeface="Calibri" panose="020F0502020204030204" pitchFamily="34" charset="0"/>
              </a:rPr>
              <a:t>informative</a:t>
            </a:r>
            <a:r>
              <a:rPr lang="en-US" dirty="0"/>
              <a:t> features that better represent a song’s characteristics and improve clustering quality.</a:t>
            </a:r>
          </a:p>
        </p:txBody>
      </p:sp>
      <p:sp>
        <p:nvSpPr>
          <p:cNvPr id="7" name="TextBox 6">
            <a:extLst>
              <a:ext uri="{FF2B5EF4-FFF2-40B4-BE49-F238E27FC236}">
                <a16:creationId xmlns:a16="http://schemas.microsoft.com/office/drawing/2014/main" id="{962B289A-1CE9-51FE-5B5D-1DC319136DEB}"/>
              </a:ext>
            </a:extLst>
          </p:cNvPr>
          <p:cNvSpPr txBox="1"/>
          <p:nvPr/>
        </p:nvSpPr>
        <p:spPr>
          <a:xfrm rot="10800000" flipH="1" flipV="1">
            <a:off x="889000" y="1910486"/>
            <a:ext cx="10610850" cy="5170646"/>
          </a:xfrm>
          <a:prstGeom prst="rect">
            <a:avLst/>
          </a:prstGeom>
          <a:noFill/>
        </p:spPr>
        <p:txBody>
          <a:bodyPr wrap="square" rtlCol="0">
            <a:spAutoFit/>
          </a:bodyPr>
          <a:lstStyle/>
          <a:p>
            <a:endParaRPr lang="en-US" sz="2000" b="1" dirty="0">
              <a:latin typeface="Calibri" panose="020F0502020204030204" pitchFamily="34" charset="0"/>
              <a:cs typeface="Calibri" panose="020F0502020204030204" pitchFamily="34" charset="0"/>
            </a:endParaRPr>
          </a:p>
          <a:p>
            <a:r>
              <a:rPr lang="en-US" sz="2000" b="1" dirty="0">
                <a:latin typeface="Calibri" panose="020F0502020204030204" pitchFamily="34" charset="0"/>
                <a:cs typeface="Calibri" panose="020F0502020204030204" pitchFamily="34" charset="0"/>
              </a:rPr>
              <a:t>Steps Involved:</a:t>
            </a:r>
          </a:p>
          <a:p>
            <a:endParaRPr lang="en-US" sz="2000" b="1" dirty="0">
              <a:latin typeface="Calibri" panose="020F0502020204030204" pitchFamily="34" charset="0"/>
              <a:cs typeface="Calibri" panose="020F0502020204030204" pitchFamily="34" charset="0"/>
            </a:endParaRPr>
          </a:p>
          <a:p>
            <a:r>
              <a:rPr lang="en-US" sz="2000" u="sng" dirty="0">
                <a:latin typeface="Calibri" panose="020F0502020204030204" pitchFamily="34" charset="0"/>
                <a:cs typeface="Calibri" panose="020F0502020204030204" pitchFamily="34" charset="0"/>
              </a:rPr>
              <a:t>*Duration Conversion</a:t>
            </a:r>
          </a:p>
          <a:p>
            <a:r>
              <a:rPr lang="en-US" sz="2000" dirty="0">
                <a:latin typeface="Calibri" panose="020F0502020204030204" pitchFamily="34" charset="0"/>
                <a:cs typeface="Calibri" panose="020F0502020204030204" pitchFamily="34" charset="0"/>
              </a:rPr>
              <a:t>Original column: </a:t>
            </a:r>
            <a:r>
              <a:rPr lang="en-US" sz="2000" dirty="0" err="1">
                <a:latin typeface="Calibri" panose="020F0502020204030204" pitchFamily="34" charset="0"/>
                <a:cs typeface="Calibri" panose="020F0502020204030204" pitchFamily="34" charset="0"/>
              </a:rPr>
              <a:t>duration_ms</a:t>
            </a:r>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Converted to duration mile second = </a:t>
            </a:r>
            <a:r>
              <a:rPr lang="en-US" sz="2000" dirty="0" err="1">
                <a:latin typeface="Calibri" panose="020F0502020204030204" pitchFamily="34" charset="0"/>
                <a:cs typeface="Calibri" panose="020F0502020204030204" pitchFamily="34" charset="0"/>
              </a:rPr>
              <a:t>duration_ms</a:t>
            </a:r>
            <a:r>
              <a:rPr lang="en-US" sz="2000" dirty="0">
                <a:latin typeface="Calibri" panose="020F0502020204030204" pitchFamily="34" charset="0"/>
                <a:cs typeface="Calibri" panose="020F0502020204030204" pitchFamily="34" charset="0"/>
              </a:rPr>
              <a:t>/1000</a:t>
            </a:r>
          </a:p>
          <a:p>
            <a:r>
              <a:rPr lang="en-US" sz="2000" dirty="0">
                <a:latin typeface="Calibri" panose="020F0502020204030204" pitchFamily="34" charset="0"/>
                <a:cs typeface="Calibri" panose="020F0502020204030204" pitchFamily="34" charset="0"/>
              </a:rPr>
              <a:t>(Makes duration more interpretable for energy-based ratios)</a:t>
            </a:r>
          </a:p>
          <a:p>
            <a:endParaRPr lang="en-US" sz="2000" dirty="0">
              <a:latin typeface="Calibri" panose="020F0502020204030204" pitchFamily="34" charset="0"/>
              <a:cs typeface="Calibri" panose="020F0502020204030204" pitchFamily="34" charset="0"/>
            </a:endParaRPr>
          </a:p>
          <a:p>
            <a:r>
              <a:rPr lang="en-US" sz="2000" u="sng" dirty="0">
                <a:latin typeface="Calibri" panose="020F0502020204030204" pitchFamily="34" charset="0"/>
                <a:cs typeface="Calibri" panose="020F0502020204030204" pitchFamily="34" charset="0"/>
              </a:rPr>
              <a:t>*Energy Per Second</a:t>
            </a:r>
          </a:p>
          <a:p>
            <a:r>
              <a:rPr lang="fr-FR" sz="2000" dirty="0" err="1">
                <a:latin typeface="Calibri" panose="020F0502020204030204" pitchFamily="34" charset="0"/>
                <a:cs typeface="Calibri" panose="020F0502020204030204" pitchFamily="34" charset="0"/>
              </a:rPr>
              <a:t>energy_per_sec</a:t>
            </a:r>
            <a:r>
              <a:rPr lang="fr-FR" sz="2000" dirty="0">
                <a:latin typeface="Calibri" panose="020F0502020204030204" pitchFamily="34" charset="0"/>
                <a:cs typeface="Calibri" panose="020F0502020204030204" pitchFamily="34" charset="0"/>
              </a:rPr>
              <a:t> = </a:t>
            </a:r>
            <a:r>
              <a:rPr lang="fr-FR" sz="2000" dirty="0" err="1">
                <a:latin typeface="Calibri" panose="020F0502020204030204" pitchFamily="34" charset="0"/>
                <a:cs typeface="Calibri" panose="020F0502020204030204" pitchFamily="34" charset="0"/>
              </a:rPr>
              <a:t>duration_seconds</a:t>
            </a:r>
            <a:r>
              <a:rPr lang="fr-FR" sz="2000" dirty="0">
                <a:latin typeface="Calibri" panose="020F0502020204030204" pitchFamily="34" charset="0"/>
                <a:cs typeface="Calibri" panose="020F0502020204030204" pitchFamily="34" charset="0"/>
              </a:rPr>
              <a:t> / </a:t>
            </a:r>
            <a:r>
              <a:rPr lang="fr-FR" sz="2000" dirty="0" err="1">
                <a:latin typeface="Calibri" panose="020F0502020204030204" pitchFamily="34" charset="0"/>
                <a:cs typeface="Calibri" panose="020F0502020204030204" pitchFamily="34" charset="0"/>
              </a:rPr>
              <a:t>energy</a:t>
            </a:r>
            <a:r>
              <a:rPr lang="fr-FR" sz="2000" dirty="0">
                <a:latin typeface="Calibri" panose="020F0502020204030204" pitchFamily="34" charset="0"/>
                <a:cs typeface="Calibri" panose="020F0502020204030204" pitchFamily="34" charset="0"/>
              </a:rPr>
              <a:t>​</a:t>
            </a:r>
          </a:p>
          <a:p>
            <a:r>
              <a:rPr lang="en-US" sz="2000" i="1" dirty="0">
                <a:latin typeface="Calibri" panose="020F0502020204030204" pitchFamily="34" charset="0"/>
                <a:cs typeface="Calibri" panose="020F0502020204030204" pitchFamily="34" charset="0"/>
              </a:rPr>
              <a:t>(</a:t>
            </a:r>
            <a:r>
              <a:rPr lang="en-US" sz="2000" dirty="0">
                <a:latin typeface="Calibri" panose="020F0502020204030204" pitchFamily="34" charset="0"/>
                <a:cs typeface="Calibri" panose="020F0502020204030204" pitchFamily="34" charset="0"/>
              </a:rPr>
              <a:t>Represents how much energy a song maintains per unit time — helps separate short, intense tracks from long, calm ones)</a:t>
            </a:r>
          </a:p>
          <a:p>
            <a:endParaRPr lang="en-US" dirty="0"/>
          </a:p>
          <a:p>
            <a:endParaRPr lang="en-US" dirty="0"/>
          </a:p>
          <a:p>
            <a:endParaRPr lang="en-US" b="1" dirty="0"/>
          </a:p>
          <a:p>
            <a:endParaRPr lang="en-US" b="1" dirty="0"/>
          </a:p>
          <a:p>
            <a:endParaRPr lang="en-US" dirty="0"/>
          </a:p>
        </p:txBody>
      </p:sp>
      <p:sp>
        <p:nvSpPr>
          <p:cNvPr id="12" name="Rectangle 5">
            <a:extLst>
              <a:ext uri="{FF2B5EF4-FFF2-40B4-BE49-F238E27FC236}">
                <a16:creationId xmlns:a16="http://schemas.microsoft.com/office/drawing/2014/main" id="{1C456DC9-3D29-C38E-06B2-B02278DFC33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Original column: </a:t>
            </a:r>
            <a:r>
              <a:rPr kumimoji="0" lang="en-US" altLang="en-US" sz="1000" b="0" i="0" u="none" strike="noStrike" cap="none" normalizeH="0" baseline="0">
                <a:ln>
                  <a:noFill/>
                </a:ln>
                <a:solidFill>
                  <a:schemeClr val="tx1"/>
                </a:solidFill>
                <a:effectLst/>
                <a:latin typeface="Arial Unicode MS"/>
              </a:rPr>
              <a:t>duration_ms</a:t>
            </a:r>
            <a:r>
              <a:rPr kumimoji="0" lang="en-US" altLang="en-US" sz="800" b="0" i="0" u="none" strike="noStrike" cap="none" normalizeH="0" baseline="0">
                <a:ln>
                  <a:noFill/>
                </a:ln>
                <a:solidFill>
                  <a:schemeClr val="tx1"/>
                </a:solidFill>
                <a:effectLst/>
              </a:rPr>
              <a:t> (milliseconds)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5792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813158-FC29-E54F-A92A-4B6DB124AB45}"/>
              </a:ext>
            </a:extLst>
          </p:cNvPr>
          <p:cNvSpPr txBox="1"/>
          <p:nvPr/>
        </p:nvSpPr>
        <p:spPr>
          <a:xfrm rot="10800000" flipH="1" flipV="1">
            <a:off x="825501" y="746976"/>
            <a:ext cx="10007600" cy="4985980"/>
          </a:xfrm>
          <a:prstGeom prst="rect">
            <a:avLst/>
          </a:prstGeom>
          <a:noFill/>
        </p:spPr>
        <p:txBody>
          <a:bodyPr wrap="square" rtlCol="0">
            <a:spAutoFit/>
          </a:bodyPr>
          <a:lstStyle/>
          <a:p>
            <a:r>
              <a:rPr lang="en-US" sz="2000" b="1" u="sng" dirty="0">
                <a:latin typeface="Calibri" panose="020F0502020204030204" pitchFamily="34" charset="0"/>
                <a:cs typeface="Calibri" panose="020F0502020204030204" pitchFamily="34" charset="0"/>
              </a:rPr>
              <a:t>Dance-Energy Ratio</a:t>
            </a:r>
            <a:endParaRPr lang="en-US" sz="2000" u="sng" dirty="0">
              <a:latin typeface="Calibri" panose="020F0502020204030204" pitchFamily="34" charset="0"/>
              <a:cs typeface="Calibri" panose="020F0502020204030204" pitchFamily="34" charset="0"/>
            </a:endParaRPr>
          </a:p>
          <a:p>
            <a:endParaRPr lang="en-US" dirty="0"/>
          </a:p>
          <a:p>
            <a:r>
              <a:rPr lang="en-US" sz="2000" dirty="0" err="1">
                <a:latin typeface="Calibri" panose="020F0502020204030204" pitchFamily="34" charset="0"/>
                <a:cs typeface="Calibri" panose="020F0502020204030204" pitchFamily="34" charset="0"/>
              </a:rPr>
              <a:t>dance_energy_ratio</a:t>
            </a:r>
            <a:r>
              <a:rPr lang="en-US" sz="2000" dirty="0">
                <a:latin typeface="Calibri" panose="020F0502020204030204" pitchFamily="34" charset="0"/>
                <a:cs typeface="Calibri" panose="020F0502020204030204" pitchFamily="34" charset="0"/>
              </a:rPr>
              <a:t> = danceability / energy</a:t>
            </a:r>
          </a:p>
          <a:p>
            <a:r>
              <a:rPr lang="en-US" sz="2000" dirty="0">
                <a:latin typeface="Calibri" panose="020F0502020204030204" pitchFamily="34" charset="0"/>
                <a:cs typeface="Calibri" panose="020F0502020204030204" pitchFamily="34" charset="0"/>
              </a:rPr>
              <a:t>(Captures how “danceable” a song is relative to its energy level — useful for identifying upbeat vs. chill tracks)</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Feature engineering was performed to create more meaningful metrics.</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For example, “</a:t>
            </a:r>
            <a:r>
              <a:rPr lang="en-US" sz="2000" dirty="0" err="1">
                <a:latin typeface="Calibri" panose="020F0502020204030204" pitchFamily="34" charset="0"/>
                <a:cs typeface="Calibri" panose="020F0502020204030204" pitchFamily="34" charset="0"/>
              </a:rPr>
              <a:t>energy_per_sec</a:t>
            </a:r>
            <a:r>
              <a:rPr lang="en-US" sz="2000" dirty="0">
                <a:latin typeface="Calibri" panose="020F0502020204030204" pitchFamily="34" charset="0"/>
                <a:cs typeface="Calibri" panose="020F0502020204030204" pitchFamily="34" charset="0"/>
              </a:rPr>
              <a:t>” normalizes song energy by length, while “</a:t>
            </a:r>
            <a:r>
              <a:rPr lang="en-US" sz="2000" dirty="0" err="1">
                <a:latin typeface="Calibri" panose="020F0502020204030204" pitchFamily="34" charset="0"/>
                <a:cs typeface="Calibri" panose="020F0502020204030204" pitchFamily="34" charset="0"/>
              </a:rPr>
              <a:t>dance_energy_ratio</a:t>
            </a:r>
            <a:r>
              <a:rPr lang="en-US" sz="2000" dirty="0">
                <a:latin typeface="Calibri" panose="020F0502020204030204" pitchFamily="34" charset="0"/>
                <a:cs typeface="Calibri" panose="020F0502020204030204" pitchFamily="34" charset="0"/>
              </a:rPr>
              <a:t>” helps identify dance-focused songs.</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These features help clustering algorithms group songs more accurately by mood and style.</a:t>
            </a: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60BDB3C4-E09D-CD17-F767-18E87E38A991}"/>
              </a:ext>
            </a:extLst>
          </p:cNvPr>
          <p:cNvPicPr>
            <a:picLocks noChangeAspect="1"/>
          </p:cNvPicPr>
          <p:nvPr/>
        </p:nvPicPr>
        <p:blipFill>
          <a:blip r:embed="rId2"/>
          <a:stretch>
            <a:fillRect/>
          </a:stretch>
        </p:blipFill>
        <p:spPr>
          <a:xfrm>
            <a:off x="1358899" y="4000500"/>
            <a:ext cx="9080501" cy="2654746"/>
          </a:xfrm>
          <a:prstGeom prst="rect">
            <a:avLst/>
          </a:prstGeom>
        </p:spPr>
      </p:pic>
    </p:spTree>
    <p:extLst>
      <p:ext uri="{BB962C8B-B14F-4D97-AF65-F5344CB8AC3E}">
        <p14:creationId xmlns:p14="http://schemas.microsoft.com/office/powerpoint/2010/main" val="2101966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11C963-EA30-B286-A250-6B47967F4A60}"/>
              </a:ext>
            </a:extLst>
          </p:cNvPr>
          <p:cNvSpPr txBox="1"/>
          <p:nvPr/>
        </p:nvSpPr>
        <p:spPr>
          <a:xfrm>
            <a:off x="977900" y="876300"/>
            <a:ext cx="9677400" cy="400110"/>
          </a:xfrm>
          <a:prstGeom prst="rect">
            <a:avLst/>
          </a:prstGeom>
          <a:noFill/>
        </p:spPr>
        <p:txBody>
          <a:bodyPr wrap="square" rtlCol="0">
            <a:spAutoFit/>
          </a:bodyPr>
          <a:lstStyle/>
          <a:p>
            <a:r>
              <a:rPr lang="en-US" sz="2000" b="1" u="sng" dirty="0"/>
              <a:t>3.SCALED DATA</a:t>
            </a:r>
          </a:p>
        </p:txBody>
      </p:sp>
      <p:sp>
        <p:nvSpPr>
          <p:cNvPr id="6" name="TextBox 5">
            <a:extLst>
              <a:ext uri="{FF2B5EF4-FFF2-40B4-BE49-F238E27FC236}">
                <a16:creationId xmlns:a16="http://schemas.microsoft.com/office/drawing/2014/main" id="{EEF8FD5C-99BB-5C17-C736-DB81E316142D}"/>
              </a:ext>
            </a:extLst>
          </p:cNvPr>
          <p:cNvSpPr txBox="1"/>
          <p:nvPr/>
        </p:nvSpPr>
        <p:spPr>
          <a:xfrm>
            <a:off x="977900" y="1778000"/>
            <a:ext cx="10363200" cy="5016758"/>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We used </a:t>
            </a:r>
            <a:r>
              <a:rPr lang="en-US" sz="2000" dirty="0" err="1">
                <a:latin typeface="Calibri" panose="020F0502020204030204" pitchFamily="34" charset="0"/>
                <a:cs typeface="Calibri" panose="020F0502020204030204" pitchFamily="34" charset="0"/>
              </a:rPr>
              <a:t>MinMaxScaler</a:t>
            </a:r>
            <a:r>
              <a:rPr lang="en-US" sz="2000" dirty="0">
                <a:latin typeface="Calibri" panose="020F0502020204030204" pitchFamily="34" charset="0"/>
                <a:cs typeface="Calibri" panose="020F0502020204030204" pitchFamily="34" charset="0"/>
              </a:rPr>
              <a:t> to normalize all audio features between 0 and 1.</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This step ensures fair comparison between features like energy, tempo, and danceability.</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Without scaling, clustering results would be biased toward high-value feature</a:t>
            </a: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                             from </a:t>
            </a:r>
            <a:r>
              <a:rPr lang="en-US" sz="2000" dirty="0" err="1">
                <a:latin typeface="Calibri" panose="020F0502020204030204" pitchFamily="34" charset="0"/>
                <a:cs typeface="Calibri" panose="020F0502020204030204" pitchFamily="34" charset="0"/>
              </a:rPr>
              <a:t>sklearn.preprocessing</a:t>
            </a:r>
            <a:r>
              <a:rPr lang="en-US" sz="2000" dirty="0">
                <a:latin typeface="Calibri" panose="020F0502020204030204" pitchFamily="34" charset="0"/>
                <a:cs typeface="Calibri" panose="020F0502020204030204" pitchFamily="34" charset="0"/>
              </a:rPr>
              <a:t> import </a:t>
            </a:r>
            <a:r>
              <a:rPr lang="en-US" sz="2000" dirty="0" err="1">
                <a:latin typeface="Calibri" panose="020F0502020204030204" pitchFamily="34" charset="0"/>
                <a:cs typeface="Calibri" panose="020F0502020204030204" pitchFamily="34" charset="0"/>
              </a:rPr>
              <a:t>MinMaxScaler</a:t>
            </a:r>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X_scaled</a:t>
            </a:r>
            <a:r>
              <a:rPr lang="en-US" sz="2000" dirty="0">
                <a:latin typeface="Calibri" panose="020F0502020204030204" pitchFamily="34" charset="0"/>
                <a:cs typeface="Calibri" panose="020F0502020204030204" pitchFamily="34" charset="0"/>
              </a:rPr>
              <a:t> = </a:t>
            </a:r>
            <a:r>
              <a:rPr lang="en-US" sz="2000" dirty="0" err="1">
                <a:latin typeface="Calibri" panose="020F0502020204030204" pitchFamily="34" charset="0"/>
                <a:cs typeface="Calibri" panose="020F0502020204030204" pitchFamily="34" charset="0"/>
              </a:rPr>
              <a:t>MinMaxScaler</a:t>
            </a:r>
            <a:r>
              <a:rPr lang="en-US" sz="2000" dirty="0">
                <a:latin typeface="Calibri" panose="020F0502020204030204" pitchFamily="34" charset="0"/>
                <a:cs typeface="Calibri" panose="020F0502020204030204" pitchFamily="34" charset="0"/>
              </a:rPr>
              <a:t>().</a:t>
            </a:r>
            <a:r>
              <a:rPr lang="en-US" sz="2000" dirty="0" err="1">
                <a:latin typeface="Calibri" panose="020F0502020204030204" pitchFamily="34" charset="0"/>
                <a:cs typeface="Calibri" panose="020F0502020204030204" pitchFamily="34" charset="0"/>
              </a:rPr>
              <a:t>fit_transform</a:t>
            </a:r>
            <a:r>
              <a:rPr lang="en-US" sz="2000" dirty="0">
                <a:latin typeface="Calibri" panose="020F0502020204030204" pitchFamily="34" charset="0"/>
                <a:cs typeface="Calibri" panose="020F0502020204030204" pitchFamily="34" charset="0"/>
              </a:rPr>
              <a:t>(X)</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Min Max Scaler Formulae:</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                           Min Max Scaler = X – X min / </a:t>
            </a:r>
            <a:r>
              <a:rPr lang="en-US" sz="2000" dirty="0" err="1">
                <a:latin typeface="Calibri" panose="020F0502020204030204" pitchFamily="34" charset="0"/>
                <a:cs typeface="Calibri" panose="020F0502020204030204" pitchFamily="34" charset="0"/>
              </a:rPr>
              <a:t>Xmin</a:t>
            </a:r>
            <a:r>
              <a:rPr lang="en-US" sz="2000" dirty="0">
                <a:latin typeface="Calibri" panose="020F0502020204030204" pitchFamily="34" charset="0"/>
                <a:cs typeface="Calibri" panose="020F0502020204030204" pitchFamily="34" charset="0"/>
              </a:rPr>
              <a:t> – </a:t>
            </a:r>
            <a:r>
              <a:rPr lang="en-US" sz="2000" dirty="0" err="1">
                <a:latin typeface="Calibri" panose="020F0502020204030204" pitchFamily="34" charset="0"/>
                <a:cs typeface="Calibri" panose="020F0502020204030204" pitchFamily="34" charset="0"/>
              </a:rPr>
              <a:t>Xmax</a:t>
            </a:r>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To bring all numerical features onto a </a:t>
            </a:r>
            <a:r>
              <a:rPr lang="en-US" sz="2000" b="1" dirty="0">
                <a:latin typeface="Calibri" panose="020F0502020204030204" pitchFamily="34" charset="0"/>
                <a:cs typeface="Calibri" panose="020F0502020204030204" pitchFamily="34" charset="0"/>
              </a:rPr>
              <a:t>common scale</a:t>
            </a:r>
            <a:r>
              <a:rPr lang="en-US" sz="2000" dirty="0">
                <a:latin typeface="Calibri" panose="020F0502020204030204" pitchFamily="34" charset="0"/>
                <a:cs typeface="Calibri" panose="020F0502020204030204" pitchFamily="34" charset="0"/>
              </a:rPr>
              <a:t> so that no single feature dominates the clustering process.</a:t>
            </a: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30633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2654301" y="165101"/>
            <a:ext cx="8657425" cy="749299"/>
          </a:xfrm>
        </p:spPr>
        <p:txBody>
          <a:bodyPr/>
          <a:lstStyle/>
          <a:p>
            <a:r>
              <a:rPr lang="en-US" i="1" u="sng" dirty="0">
                <a:cs typeface="Calibri" panose="020F0502020204030204" pitchFamily="34" charset="0"/>
              </a:rPr>
              <a:t>CLUSTERING METHODOLOGY</a:t>
            </a:r>
          </a:p>
        </p:txBody>
      </p:sp>
      <p:sp>
        <p:nvSpPr>
          <p:cNvPr id="8" name="Content Placeholder 7">
            <a:extLst>
              <a:ext uri="{FF2B5EF4-FFF2-40B4-BE49-F238E27FC236}">
                <a16:creationId xmlns:a16="http://schemas.microsoft.com/office/drawing/2014/main" id="{B0B9299F-8303-9379-20E1-9DE6141A7084}"/>
              </a:ext>
            </a:extLst>
          </p:cNvPr>
          <p:cNvSpPr>
            <a:spLocks noGrp="1"/>
          </p:cNvSpPr>
          <p:nvPr>
            <p:ph sz="half" idx="2"/>
          </p:nvPr>
        </p:nvSpPr>
        <p:spPr>
          <a:xfrm>
            <a:off x="2768600" y="1155700"/>
            <a:ext cx="8657425" cy="5245101"/>
          </a:xfrm>
        </p:spPr>
        <p:txBody>
          <a:bodyPr>
            <a:normAutofit fontScale="55000" lnSpcReduction="20000"/>
          </a:bodyPr>
          <a:lstStyle/>
          <a:p>
            <a:pPr marL="0" indent="0">
              <a:buNone/>
            </a:pPr>
            <a:r>
              <a:rPr lang="en-US" sz="4400" b="1" u="sng" dirty="0">
                <a:solidFill>
                  <a:schemeClr val="tx1"/>
                </a:solidFill>
                <a:latin typeface="Calibri" panose="020F0502020204030204" pitchFamily="34" charset="0"/>
                <a:cs typeface="Calibri" panose="020F0502020204030204" pitchFamily="34" charset="0"/>
              </a:rPr>
              <a:t> K-means clustering </a:t>
            </a:r>
          </a:p>
          <a:p>
            <a:pPr marL="0" indent="0">
              <a:buNone/>
            </a:pPr>
            <a:r>
              <a:rPr lang="en-US" sz="3600" dirty="0">
                <a:solidFill>
                  <a:schemeClr val="tx1"/>
                </a:solidFill>
                <a:latin typeface="Calibri" panose="020F0502020204030204" pitchFamily="34" charset="0"/>
                <a:cs typeface="Calibri" panose="020F0502020204030204" pitchFamily="34" charset="0"/>
              </a:rPr>
              <a:t> 	The k-means</a:t>
            </a:r>
            <a:r>
              <a:rPr lang="en-US" sz="3600" b="1" dirty="0">
                <a:solidFill>
                  <a:schemeClr val="tx1"/>
                </a:solidFill>
                <a:latin typeface="Calibri" panose="020F0502020204030204" pitchFamily="34" charset="0"/>
                <a:cs typeface="Calibri" panose="020F0502020204030204" pitchFamily="34" charset="0"/>
              </a:rPr>
              <a:t> </a:t>
            </a:r>
            <a:r>
              <a:rPr lang="en-US" sz="3600" dirty="0">
                <a:solidFill>
                  <a:schemeClr val="tx1"/>
                </a:solidFill>
                <a:latin typeface="Calibri" panose="020F0502020204030204" pitchFamily="34" charset="0"/>
                <a:cs typeface="Calibri" panose="020F0502020204030204" pitchFamily="34" charset="0"/>
              </a:rPr>
              <a:t>clustering</a:t>
            </a:r>
            <a:r>
              <a:rPr lang="en-US" sz="3600" b="1" dirty="0">
                <a:solidFill>
                  <a:schemeClr val="tx1"/>
                </a:solidFill>
                <a:latin typeface="Calibri" panose="020F0502020204030204" pitchFamily="34" charset="0"/>
                <a:cs typeface="Calibri" panose="020F0502020204030204" pitchFamily="34" charset="0"/>
              </a:rPr>
              <a:t> </a:t>
            </a:r>
            <a:r>
              <a:rPr lang="en-US" sz="3600" dirty="0">
                <a:solidFill>
                  <a:schemeClr val="tx1"/>
                </a:solidFill>
                <a:latin typeface="Calibri" panose="020F0502020204030204" pitchFamily="34" charset="0"/>
                <a:cs typeface="Calibri" panose="020F0502020204030204" pitchFamily="34" charset="0"/>
              </a:rPr>
              <a:t>algorithm was the primary technique applied in this project to group amazon music songs based on their audio characteristics. K-means is a partition-based clustering method that organizes data into </a:t>
            </a:r>
            <a:r>
              <a:rPr lang="en-US" sz="3600" i="1" dirty="0">
                <a:solidFill>
                  <a:schemeClr val="tx1"/>
                </a:solidFill>
                <a:latin typeface="Calibri" panose="020F0502020204030204" pitchFamily="34" charset="0"/>
                <a:cs typeface="Calibri" panose="020F0502020204030204" pitchFamily="34" charset="0"/>
              </a:rPr>
              <a:t>k</a:t>
            </a:r>
            <a:r>
              <a:rPr lang="en-US" sz="3600" dirty="0">
                <a:solidFill>
                  <a:schemeClr val="tx1"/>
                </a:solidFill>
                <a:latin typeface="Calibri" panose="020F0502020204030204" pitchFamily="34" charset="0"/>
                <a:cs typeface="Calibri" panose="020F0502020204030204" pitchFamily="34" charset="0"/>
              </a:rPr>
              <a:t> clusters, where </a:t>
            </a:r>
            <a:r>
              <a:rPr lang="en-US" sz="3600" i="1" dirty="0">
                <a:solidFill>
                  <a:schemeClr val="tx1"/>
                </a:solidFill>
                <a:latin typeface="Calibri" panose="020F0502020204030204" pitchFamily="34" charset="0"/>
                <a:cs typeface="Calibri" panose="020F0502020204030204" pitchFamily="34" charset="0"/>
              </a:rPr>
              <a:t>k</a:t>
            </a:r>
            <a:r>
              <a:rPr lang="en-US" sz="3600" dirty="0">
                <a:solidFill>
                  <a:schemeClr val="tx1"/>
                </a:solidFill>
                <a:latin typeface="Calibri" panose="020F0502020204030204" pitchFamily="34" charset="0"/>
                <a:cs typeface="Calibri" panose="020F0502020204030204" pitchFamily="34" charset="0"/>
              </a:rPr>
              <a:t> represents the number of distinct groups defined by the user. Each cluster is represented by a centroid, which is the mean of all data points within that group. The algorithm begins by randomly initializing </a:t>
            </a:r>
            <a:r>
              <a:rPr lang="en-US" sz="3600" i="1" dirty="0">
                <a:solidFill>
                  <a:schemeClr val="tx1"/>
                </a:solidFill>
                <a:latin typeface="Calibri" panose="020F0502020204030204" pitchFamily="34" charset="0"/>
                <a:cs typeface="Calibri" panose="020F0502020204030204" pitchFamily="34" charset="0"/>
              </a:rPr>
              <a:t>k</a:t>
            </a:r>
            <a:r>
              <a:rPr lang="en-US" sz="3600" dirty="0">
                <a:solidFill>
                  <a:schemeClr val="tx1"/>
                </a:solidFill>
                <a:latin typeface="Calibri" panose="020F0502020204030204" pitchFamily="34" charset="0"/>
                <a:cs typeface="Calibri" panose="020F0502020204030204" pitchFamily="34" charset="0"/>
              </a:rPr>
              <a:t> centroids and then iteratively updates them to minimize the sum</a:t>
            </a:r>
            <a:r>
              <a:rPr lang="en-US" sz="3600" b="1" dirty="0">
                <a:solidFill>
                  <a:schemeClr val="tx1"/>
                </a:solidFill>
                <a:latin typeface="Calibri" panose="020F0502020204030204" pitchFamily="34" charset="0"/>
                <a:cs typeface="Calibri" panose="020F0502020204030204" pitchFamily="34" charset="0"/>
              </a:rPr>
              <a:t> </a:t>
            </a:r>
            <a:r>
              <a:rPr lang="en-US" sz="3600" dirty="0">
                <a:solidFill>
                  <a:schemeClr val="tx1"/>
                </a:solidFill>
                <a:latin typeface="Calibri" panose="020F0502020204030204" pitchFamily="34" charset="0"/>
                <a:cs typeface="Calibri" panose="020F0502020204030204" pitchFamily="34" charset="0"/>
              </a:rPr>
              <a:t>of</a:t>
            </a:r>
            <a:r>
              <a:rPr lang="en-US" sz="3600" b="1" dirty="0">
                <a:solidFill>
                  <a:schemeClr val="tx1"/>
                </a:solidFill>
                <a:latin typeface="Calibri" panose="020F0502020204030204" pitchFamily="34" charset="0"/>
                <a:cs typeface="Calibri" panose="020F0502020204030204" pitchFamily="34" charset="0"/>
              </a:rPr>
              <a:t> </a:t>
            </a:r>
            <a:r>
              <a:rPr lang="en-US" sz="3600" dirty="0">
                <a:solidFill>
                  <a:schemeClr val="tx1"/>
                </a:solidFill>
                <a:latin typeface="Calibri" panose="020F0502020204030204" pitchFamily="34" charset="0"/>
                <a:cs typeface="Calibri" panose="020F0502020204030204" pitchFamily="34" charset="0"/>
              </a:rPr>
              <a:t>squared</a:t>
            </a:r>
            <a:r>
              <a:rPr lang="en-US" sz="3600" b="1" dirty="0">
                <a:solidFill>
                  <a:schemeClr val="tx1"/>
                </a:solidFill>
                <a:latin typeface="Calibri" panose="020F0502020204030204" pitchFamily="34" charset="0"/>
                <a:cs typeface="Calibri" panose="020F0502020204030204" pitchFamily="34" charset="0"/>
              </a:rPr>
              <a:t> </a:t>
            </a:r>
            <a:r>
              <a:rPr lang="en-US" sz="3600" dirty="0">
                <a:solidFill>
                  <a:schemeClr val="tx1"/>
                </a:solidFill>
                <a:latin typeface="Calibri" panose="020F0502020204030204" pitchFamily="34" charset="0"/>
                <a:cs typeface="Calibri" panose="020F0502020204030204" pitchFamily="34" charset="0"/>
              </a:rPr>
              <a:t>errors</a:t>
            </a:r>
            <a:r>
              <a:rPr lang="en-US" sz="3600" b="1" dirty="0">
                <a:solidFill>
                  <a:schemeClr val="tx1"/>
                </a:solidFill>
                <a:latin typeface="Calibri" panose="020F0502020204030204" pitchFamily="34" charset="0"/>
                <a:cs typeface="Calibri" panose="020F0502020204030204" pitchFamily="34" charset="0"/>
              </a:rPr>
              <a:t> (</a:t>
            </a:r>
            <a:r>
              <a:rPr lang="en-US" sz="3600" dirty="0">
                <a:solidFill>
                  <a:schemeClr val="tx1"/>
                </a:solidFill>
                <a:latin typeface="Calibri" panose="020F0502020204030204" pitchFamily="34" charset="0"/>
                <a:cs typeface="Calibri" panose="020F0502020204030204" pitchFamily="34" charset="0"/>
              </a:rPr>
              <a:t>SSE</a:t>
            </a:r>
            <a:r>
              <a:rPr lang="en-US" sz="3600" b="1" dirty="0">
                <a:solidFill>
                  <a:schemeClr val="tx1"/>
                </a:solidFill>
                <a:latin typeface="Calibri" panose="020F0502020204030204" pitchFamily="34" charset="0"/>
                <a:cs typeface="Calibri" panose="020F0502020204030204" pitchFamily="34" charset="0"/>
              </a:rPr>
              <a:t>)</a:t>
            </a:r>
            <a:r>
              <a:rPr lang="en-US" sz="3600" dirty="0">
                <a:solidFill>
                  <a:schemeClr val="tx1"/>
                </a:solidFill>
                <a:latin typeface="Calibri" panose="020F0502020204030204" pitchFamily="34" charset="0"/>
                <a:cs typeface="Calibri" panose="020F0502020204030204" pitchFamily="34" charset="0"/>
              </a:rPr>
              <a:t> between each data point and its assigned centroid. The objective is to ensure that songs within the same cluster share similar properties, while those in different clusters are distinctly separated.</a:t>
            </a:r>
          </a:p>
          <a:p>
            <a:pPr marL="0" indent="0">
              <a:buNone/>
            </a:pPr>
            <a:r>
              <a:rPr lang="en-US" sz="3600" dirty="0">
                <a:solidFill>
                  <a:schemeClr val="tx1"/>
                </a:solidFill>
                <a:latin typeface="Calibri" panose="020F0502020204030204" pitchFamily="34" charset="0"/>
                <a:cs typeface="Calibri" panose="020F0502020204030204" pitchFamily="34" charset="0"/>
              </a:rPr>
              <a:t>	To find the optimal number of clusters, this project used both the elbow</a:t>
            </a:r>
            <a:r>
              <a:rPr lang="en-US" sz="3600" b="1" dirty="0">
                <a:solidFill>
                  <a:schemeClr val="tx1"/>
                </a:solidFill>
                <a:latin typeface="Calibri" panose="020F0502020204030204" pitchFamily="34" charset="0"/>
                <a:cs typeface="Calibri" panose="020F0502020204030204" pitchFamily="34" charset="0"/>
              </a:rPr>
              <a:t> </a:t>
            </a:r>
            <a:r>
              <a:rPr lang="en-US" sz="3600" dirty="0">
                <a:solidFill>
                  <a:schemeClr val="tx1"/>
                </a:solidFill>
                <a:latin typeface="Calibri" panose="020F0502020204030204" pitchFamily="34" charset="0"/>
                <a:cs typeface="Calibri" panose="020F0502020204030204" pitchFamily="34" charset="0"/>
              </a:rPr>
              <a:t>method and the silhouette</a:t>
            </a:r>
            <a:r>
              <a:rPr lang="en-US" sz="3600" b="1" dirty="0">
                <a:solidFill>
                  <a:schemeClr val="tx1"/>
                </a:solidFill>
                <a:latin typeface="Calibri" panose="020F0502020204030204" pitchFamily="34" charset="0"/>
                <a:cs typeface="Calibri" panose="020F0502020204030204" pitchFamily="34" charset="0"/>
              </a:rPr>
              <a:t> </a:t>
            </a:r>
            <a:r>
              <a:rPr lang="en-US" sz="3600" dirty="0">
                <a:solidFill>
                  <a:schemeClr val="tx1"/>
                </a:solidFill>
                <a:latin typeface="Calibri" panose="020F0502020204030204" pitchFamily="34" charset="0"/>
                <a:cs typeface="Calibri" panose="020F0502020204030204" pitchFamily="34" charset="0"/>
              </a:rPr>
              <a:t>score. The elbow method plots the SSE against varying </a:t>
            </a:r>
            <a:r>
              <a:rPr lang="en-US" sz="3600" i="1" dirty="0">
                <a:solidFill>
                  <a:schemeClr val="tx1"/>
                </a:solidFill>
                <a:latin typeface="Calibri" panose="020F0502020204030204" pitchFamily="34" charset="0"/>
                <a:cs typeface="Calibri" panose="020F0502020204030204" pitchFamily="34" charset="0"/>
              </a:rPr>
              <a:t>k</a:t>
            </a:r>
            <a:r>
              <a:rPr lang="en-US" sz="3600" dirty="0">
                <a:solidFill>
                  <a:schemeClr val="tx1"/>
                </a:solidFill>
                <a:latin typeface="Calibri" panose="020F0502020204030204" pitchFamily="34" charset="0"/>
                <a:cs typeface="Calibri" panose="020F0502020204030204" pitchFamily="34" charset="0"/>
              </a:rPr>
              <a:t> values, identifying the “elbow point” where improvement slows down. The silhouette score measures how well a song fits into its cluster compared to others, with higher scores indicating well-defined clusters. Once the best </a:t>
            </a:r>
            <a:r>
              <a:rPr lang="en-US" sz="3600" i="1" dirty="0">
                <a:solidFill>
                  <a:schemeClr val="tx1"/>
                </a:solidFill>
                <a:latin typeface="Calibri" panose="020F0502020204030204" pitchFamily="34" charset="0"/>
                <a:cs typeface="Calibri" panose="020F0502020204030204" pitchFamily="34" charset="0"/>
              </a:rPr>
              <a:t>k</a:t>
            </a:r>
            <a:r>
              <a:rPr lang="en-US" sz="3600" dirty="0">
                <a:solidFill>
                  <a:schemeClr val="tx1"/>
                </a:solidFill>
                <a:latin typeface="Calibri" panose="020F0502020204030204" pitchFamily="34" charset="0"/>
                <a:cs typeface="Calibri" panose="020F0502020204030204" pitchFamily="34" charset="0"/>
              </a:rPr>
              <a:t> value was determined, the k-means model was trained using scaled features such as danceability, energy, and tempo. Each resulting cluster represented a unique group of songs sharing common musical moods or energy patterns, supporting automated playlist curation and genre grouping.</a:t>
            </a:r>
          </a:p>
          <a:p>
            <a:endParaRPr lang="en-US" dirty="0"/>
          </a:p>
        </p:txBody>
      </p:sp>
    </p:spTree>
    <p:extLst>
      <p:ext uri="{BB962C8B-B14F-4D97-AF65-F5344CB8AC3E}">
        <p14:creationId xmlns:p14="http://schemas.microsoft.com/office/powerpoint/2010/main" val="68568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9AE446F-4467-19FA-5713-DEDC0BA5C0EB}"/>
              </a:ext>
            </a:extLst>
          </p:cNvPr>
          <p:cNvPicPr>
            <a:picLocks noChangeAspect="1"/>
          </p:cNvPicPr>
          <p:nvPr/>
        </p:nvPicPr>
        <p:blipFill>
          <a:blip r:embed="rId2"/>
          <a:stretch>
            <a:fillRect/>
          </a:stretch>
        </p:blipFill>
        <p:spPr>
          <a:xfrm>
            <a:off x="3136899" y="1358900"/>
            <a:ext cx="6324601" cy="2921000"/>
          </a:xfrm>
          <a:prstGeom prst="rect">
            <a:avLst/>
          </a:prstGeom>
        </p:spPr>
      </p:pic>
      <p:sp>
        <p:nvSpPr>
          <p:cNvPr id="7" name="TextBox 6">
            <a:extLst>
              <a:ext uri="{FF2B5EF4-FFF2-40B4-BE49-F238E27FC236}">
                <a16:creationId xmlns:a16="http://schemas.microsoft.com/office/drawing/2014/main" id="{17ADEC16-71E0-BCA4-AF9F-2BD264ECEC34}"/>
              </a:ext>
            </a:extLst>
          </p:cNvPr>
          <p:cNvSpPr txBox="1"/>
          <p:nvPr/>
        </p:nvSpPr>
        <p:spPr>
          <a:xfrm>
            <a:off x="3136899" y="711200"/>
            <a:ext cx="5067300" cy="369332"/>
          </a:xfrm>
          <a:prstGeom prst="rect">
            <a:avLst/>
          </a:prstGeom>
          <a:noFill/>
        </p:spPr>
        <p:txBody>
          <a:bodyPr wrap="square" rtlCol="0">
            <a:spAutoFit/>
          </a:bodyPr>
          <a:lstStyle/>
          <a:p>
            <a:r>
              <a:rPr lang="en-US" b="1" u="sng" dirty="0">
                <a:latin typeface="Arial Black" panose="020B0A04020102020204" pitchFamily="34" charset="0"/>
              </a:rPr>
              <a:t>ELBOW METHOD</a:t>
            </a:r>
          </a:p>
        </p:txBody>
      </p:sp>
      <p:sp>
        <p:nvSpPr>
          <p:cNvPr id="11" name="TextBox 10">
            <a:extLst>
              <a:ext uri="{FF2B5EF4-FFF2-40B4-BE49-F238E27FC236}">
                <a16:creationId xmlns:a16="http://schemas.microsoft.com/office/drawing/2014/main" id="{BA38250D-FA76-0A29-567E-DE45EA6147FB}"/>
              </a:ext>
            </a:extLst>
          </p:cNvPr>
          <p:cNvSpPr txBox="1"/>
          <p:nvPr/>
        </p:nvSpPr>
        <p:spPr>
          <a:xfrm rot="10800000" flipH="1" flipV="1">
            <a:off x="3022600" y="4599142"/>
            <a:ext cx="6756400" cy="1631216"/>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We tested different k values from 2 to 8 using the Silhouette Score.</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The highest score (0.3202) was achieved when </a:t>
            </a:r>
            <a:r>
              <a:rPr lang="en-US" sz="2000" b="1" dirty="0">
                <a:latin typeface="Calibri" panose="020F0502020204030204" pitchFamily="34" charset="0"/>
                <a:cs typeface="Calibri" panose="020F0502020204030204" pitchFamily="34" charset="0"/>
              </a:rPr>
              <a:t>k = 3</a:t>
            </a:r>
            <a:r>
              <a:rPr lang="en-US" sz="2000" dirty="0">
                <a:latin typeface="Calibri" panose="020F0502020204030204" pitchFamily="34" charset="0"/>
                <a:cs typeface="Calibri" panose="020F0502020204030204" pitchFamily="34" charset="0"/>
              </a:rPr>
              <a:t>, meaning the dataset naturally forms </a:t>
            </a:r>
            <a:r>
              <a:rPr lang="en-US" sz="2000" b="1" dirty="0">
                <a:latin typeface="Calibri" panose="020F0502020204030204" pitchFamily="34" charset="0"/>
                <a:cs typeface="Calibri" panose="020F0502020204030204" pitchFamily="34" charset="0"/>
              </a:rPr>
              <a:t>three well-defined clusters</a:t>
            </a:r>
            <a:r>
              <a:rPr lang="en-US" sz="2000" dirty="0">
                <a:latin typeface="Calibri" panose="020F0502020204030204" pitchFamily="34" charset="0"/>
                <a:cs typeface="Calibri" panose="020F0502020204030204" pitchFamily="34" charset="0"/>
              </a:rPr>
              <a:t> representing different music groups or moods.</a:t>
            </a:r>
          </a:p>
        </p:txBody>
      </p:sp>
    </p:spTree>
    <p:extLst>
      <p:ext uri="{BB962C8B-B14F-4D97-AF65-F5344CB8AC3E}">
        <p14:creationId xmlns:p14="http://schemas.microsoft.com/office/powerpoint/2010/main" val="705602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7A3B52-8C89-E1E8-E68F-BB333691269C}"/>
              </a:ext>
            </a:extLst>
          </p:cNvPr>
          <p:cNvSpPr>
            <a:spLocks noGrp="1"/>
          </p:cNvSpPr>
          <p:nvPr>
            <p:ph sz="half" idx="2"/>
          </p:nvPr>
        </p:nvSpPr>
        <p:spPr>
          <a:xfrm>
            <a:off x="2616200" y="711200"/>
            <a:ext cx="8581225" cy="5267327"/>
          </a:xfrm>
        </p:spPr>
        <p:txBody>
          <a:bodyPr>
            <a:normAutofit lnSpcReduction="10000"/>
          </a:bodyPr>
          <a:lstStyle/>
          <a:p>
            <a:pPr marL="0" indent="0">
              <a:buNone/>
            </a:pPr>
            <a:r>
              <a:rPr lang="en-US" sz="2400" b="1" u="sng" dirty="0">
                <a:solidFill>
                  <a:schemeClr val="tx1"/>
                </a:solidFill>
                <a:latin typeface="Calibri" panose="020F0502020204030204" pitchFamily="34" charset="0"/>
                <a:cs typeface="Calibri" panose="020F0502020204030204" pitchFamily="34" charset="0"/>
              </a:rPr>
              <a:t>DBSCAN Clustering </a:t>
            </a:r>
          </a:p>
          <a:p>
            <a:pPr marL="0" indent="0">
              <a:buNone/>
            </a:pPr>
            <a:r>
              <a:rPr lang="en-US" b="1" dirty="0"/>
              <a:t>	</a:t>
            </a:r>
            <a:r>
              <a:rPr lang="en-US" b="1" dirty="0">
                <a:solidFill>
                  <a:schemeClr val="tx1"/>
                </a:solidFill>
              </a:rPr>
              <a:t>DBSCAN (Density-Based Spatial Clustering of Applications with Noise)</a:t>
            </a:r>
            <a:r>
              <a:rPr lang="en-US" dirty="0">
                <a:solidFill>
                  <a:schemeClr val="tx1"/>
                </a:solidFill>
              </a:rPr>
              <a:t> was applied as an alternative clustering method to validate and complement the K-Means results. Unlike K-Means, DBSCAN does not require specifying the number of clusters beforehand; instead, it forms clusters based on the </a:t>
            </a:r>
            <a:r>
              <a:rPr lang="en-US" b="1" dirty="0">
                <a:solidFill>
                  <a:schemeClr val="tx1"/>
                </a:solidFill>
              </a:rPr>
              <a:t>density</a:t>
            </a:r>
            <a:r>
              <a:rPr lang="en-US" dirty="0">
                <a:solidFill>
                  <a:schemeClr val="tx1"/>
                </a:solidFill>
              </a:rPr>
              <a:t> of data points. This makes it particularly effective for datasets containing irregular shapes, variable densities, or noise — which are common in real-world music data. DBSCAN groups songs that are closely packed together in feature space and labels points in low-density regions as </a:t>
            </a:r>
            <a:r>
              <a:rPr lang="en-US" b="1" dirty="0">
                <a:solidFill>
                  <a:schemeClr val="tx1"/>
                </a:solidFill>
              </a:rPr>
              <a:t>noise</a:t>
            </a:r>
            <a:r>
              <a:rPr lang="en-US" dirty="0">
                <a:solidFill>
                  <a:schemeClr val="tx1"/>
                </a:solidFill>
              </a:rPr>
              <a:t> or </a:t>
            </a:r>
            <a:r>
              <a:rPr lang="en-US" b="1" dirty="0">
                <a:solidFill>
                  <a:schemeClr val="tx1"/>
                </a:solidFill>
              </a:rPr>
              <a:t>outliers</a:t>
            </a:r>
            <a:r>
              <a:rPr lang="en-US" dirty="0">
                <a:solidFill>
                  <a:schemeClr val="tx1"/>
                </a:solidFill>
              </a:rPr>
              <a:t>.</a:t>
            </a:r>
          </a:p>
          <a:p>
            <a:pPr marL="0" indent="0">
              <a:buNone/>
            </a:pPr>
            <a:r>
              <a:rPr lang="en-US" dirty="0">
                <a:solidFill>
                  <a:schemeClr val="tx1"/>
                </a:solidFill>
              </a:rPr>
              <a:t>	The algorithm uses two key parameters: </a:t>
            </a:r>
            <a:r>
              <a:rPr lang="en-US" b="1" dirty="0">
                <a:solidFill>
                  <a:schemeClr val="tx1"/>
                </a:solidFill>
              </a:rPr>
              <a:t>eps</a:t>
            </a:r>
            <a:r>
              <a:rPr lang="en-US" dirty="0">
                <a:solidFill>
                  <a:schemeClr val="tx1"/>
                </a:solidFill>
              </a:rPr>
              <a:t> (ε), which defines the maximum distance between two samples to be considered neighbors, and </a:t>
            </a:r>
            <a:r>
              <a:rPr lang="en-US" b="1" dirty="0" err="1">
                <a:solidFill>
                  <a:schemeClr val="tx1"/>
                </a:solidFill>
              </a:rPr>
              <a:t>min_samples</a:t>
            </a:r>
            <a:r>
              <a:rPr lang="en-US" dirty="0">
                <a:solidFill>
                  <a:schemeClr val="tx1"/>
                </a:solidFill>
              </a:rPr>
              <a:t>, which specifies the minimum number of songs required to form a dense region. Songs meeting these conditions become </a:t>
            </a:r>
            <a:r>
              <a:rPr lang="en-US" b="1" dirty="0">
                <a:solidFill>
                  <a:schemeClr val="tx1"/>
                </a:solidFill>
              </a:rPr>
              <a:t>core points</a:t>
            </a:r>
            <a:r>
              <a:rPr lang="en-US" dirty="0">
                <a:solidFill>
                  <a:schemeClr val="tx1"/>
                </a:solidFill>
              </a:rPr>
              <a:t>, while others may be border points or noise. In this project, DBSCAN helped detect songs that didn’t fit well into any K-Means cluster, identifying unique or niche musical styles. It also revealed naturally formed clusters that varied in size and shape, demonstrating flexibility beyond K-Means’ spherical boundaries. Overall, DBSCAN provided a deeper understanding of underlying song relationships, improved cluster interpretation, and enhanced the reliability of the final analysis by handling noisy or outlier data effectively.</a:t>
            </a:r>
          </a:p>
          <a:p>
            <a:endParaRPr lang="en-US" dirty="0"/>
          </a:p>
        </p:txBody>
      </p:sp>
    </p:spTree>
    <p:extLst>
      <p:ext uri="{BB962C8B-B14F-4D97-AF65-F5344CB8AC3E}">
        <p14:creationId xmlns:p14="http://schemas.microsoft.com/office/powerpoint/2010/main" val="274812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i="1" u="sng" dirty="0"/>
              <a:t>VISUALIZATION</a:t>
            </a: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12</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3808750"/>
            <a:ext cx="7043618" cy="2233233"/>
          </a:xfrm>
        </p:spPr>
        <p:txBody>
          <a:bodyPr/>
          <a:lstStyle/>
          <a:p>
            <a:r>
              <a:rPr lang="en-US" dirty="0"/>
              <a:t>PCA</a:t>
            </a:r>
          </a:p>
          <a:p>
            <a:r>
              <a:rPr lang="en-US" dirty="0"/>
              <a:t>Bar Chart</a:t>
            </a:r>
          </a:p>
          <a:p>
            <a:r>
              <a:rPr lang="en-US" dirty="0"/>
              <a:t>Heat Map</a:t>
            </a:r>
          </a:p>
          <a:p>
            <a:r>
              <a:rPr lang="en-US" dirty="0"/>
              <a:t>Distribution Plot</a:t>
            </a:r>
          </a:p>
        </p:txBody>
      </p:sp>
    </p:spTree>
    <p:extLst>
      <p:ext uri="{BB962C8B-B14F-4D97-AF65-F5344CB8AC3E}">
        <p14:creationId xmlns:p14="http://schemas.microsoft.com/office/powerpoint/2010/main" val="1131718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533401" y="834635"/>
            <a:ext cx="5232401" cy="4131065"/>
          </a:xfrm>
        </p:spPr>
        <p:txBody>
          <a:bodyPr/>
          <a:lstStyle/>
          <a:p>
            <a:r>
              <a:rPr lang="en-US" sz="3200" dirty="0">
                <a:latin typeface="Calibri" panose="020F0502020204030204" pitchFamily="34" charset="0"/>
                <a:cs typeface="Calibri" panose="020F0502020204030204" pitchFamily="34" charset="0"/>
              </a:rPr>
              <a:t>1.PCA</a:t>
            </a:r>
            <a:br>
              <a:rPr lang="en-US" sz="32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PCA was used to reduce high-dimensional data into 2 or 3 components while preserving most of the variance.</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Each point in the PCA scatter plot represents a song, and the colors represent clusters formed by k-means.</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This helps us see clear separation or overlap among music clusters, identifying patterns like energetic vs calm songs.</a:t>
            </a:r>
            <a:br>
              <a:rPr lang="en-US" sz="2000" dirty="0">
                <a:latin typeface="Calibri" panose="020F0502020204030204" pitchFamily="34" charset="0"/>
                <a:cs typeface="Calibri" panose="020F0502020204030204" pitchFamily="34" charset="0"/>
              </a:rPr>
            </a:br>
            <a:endParaRPr lang="en-US" sz="2000" dirty="0">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13</a:t>
            </a:fld>
            <a:endParaRPr lang="en-US" dirty="0"/>
          </a:p>
        </p:txBody>
      </p:sp>
      <p:pic>
        <p:nvPicPr>
          <p:cNvPr id="10" name="Picture 9">
            <a:extLst>
              <a:ext uri="{FF2B5EF4-FFF2-40B4-BE49-F238E27FC236}">
                <a16:creationId xmlns:a16="http://schemas.microsoft.com/office/drawing/2014/main" id="{BB6526C9-61DF-E2DD-5915-BD4EC853069F}"/>
              </a:ext>
            </a:extLst>
          </p:cNvPr>
          <p:cNvPicPr>
            <a:picLocks noChangeAspect="1"/>
          </p:cNvPicPr>
          <p:nvPr/>
        </p:nvPicPr>
        <p:blipFill>
          <a:blip r:embed="rId3"/>
          <a:stretch>
            <a:fillRect/>
          </a:stretch>
        </p:blipFill>
        <p:spPr>
          <a:xfrm>
            <a:off x="5765803" y="-2"/>
            <a:ext cx="6426198" cy="6858002"/>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86795-6C50-CC17-5CB0-44809F4F33F6}"/>
              </a:ext>
            </a:extLst>
          </p:cNvPr>
          <p:cNvSpPr>
            <a:spLocks noGrp="1"/>
          </p:cNvSpPr>
          <p:nvPr>
            <p:ph type="title"/>
          </p:nvPr>
        </p:nvSpPr>
        <p:spPr>
          <a:xfrm>
            <a:off x="914399" y="834635"/>
            <a:ext cx="4457701" cy="5794765"/>
          </a:xfrm>
        </p:spPr>
        <p:txBody>
          <a:bodyPr/>
          <a:lstStyle/>
          <a:p>
            <a:br>
              <a:rPr lang="en-US" sz="32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r>
              <a:rPr lang="en-US" sz="3200" dirty="0">
                <a:latin typeface="Calibri" panose="020F0502020204030204" pitchFamily="34" charset="0"/>
                <a:cs typeface="Calibri" panose="020F0502020204030204" pitchFamily="34" charset="0"/>
              </a:rPr>
              <a:t>2.Heatmap</a:t>
            </a:r>
            <a:br>
              <a:rPr lang="en-US" sz="32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A heatmap visually shows the average feature values per cluster.</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It helps us compare clusters based on characteristics like energy, tempo, and danceability.</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Each row represents a cluster, and each column represents a feature.</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The color intensity indicates the value — for example, darker shades for higher energy or tempo.</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It helps interpret what makes each cluster unique (</a:t>
            </a:r>
            <a:r>
              <a:rPr lang="en-US" sz="2000" b="0" cap="none" dirty="0" err="1">
                <a:solidFill>
                  <a:schemeClr val="tx1"/>
                </a:solidFill>
                <a:latin typeface="Calibri" panose="020F0502020204030204" pitchFamily="34" charset="0"/>
                <a:cs typeface="Calibri" panose="020F0502020204030204" pitchFamily="34" charset="0"/>
              </a:rPr>
              <a:t>eg</a:t>
            </a:r>
            <a:r>
              <a:rPr lang="en-US" sz="2000" b="0" cap="none" dirty="0">
                <a:solidFill>
                  <a:schemeClr val="tx1"/>
                </a:solidFill>
                <a:latin typeface="Calibri" panose="020F0502020204030204" pitchFamily="34" charset="0"/>
                <a:cs typeface="Calibri" panose="020F0502020204030204" pitchFamily="34" charset="0"/>
              </a:rPr>
              <a:t>: Cluster 1 = energetic songs, cluster 2 = acoustic songs).</a:t>
            </a:r>
            <a:br>
              <a:rPr lang="en-US" sz="20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endParaRPr lang="en-US" sz="3200" dirty="0">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4F889306-7250-4328-CB11-F372C744587F}"/>
              </a:ext>
            </a:extLst>
          </p:cNvPr>
          <p:cNvSpPr>
            <a:spLocks noGrp="1"/>
          </p:cNvSpPr>
          <p:nvPr>
            <p:ph type="sldNum" sz="quarter" idx="10"/>
          </p:nvPr>
        </p:nvSpPr>
        <p:spPr/>
        <p:txBody>
          <a:bodyPr/>
          <a:lstStyle/>
          <a:p>
            <a:fld id="{48F63A3B-78C7-47BE-AE5E-E10140E04643}" type="slidenum">
              <a:rPr lang="en-US" smtClean="0"/>
              <a:pPr/>
              <a:t>14</a:t>
            </a:fld>
            <a:endParaRPr lang="en-US" dirty="0"/>
          </a:p>
        </p:txBody>
      </p:sp>
      <p:pic>
        <p:nvPicPr>
          <p:cNvPr id="7" name="Picture 6">
            <a:extLst>
              <a:ext uri="{FF2B5EF4-FFF2-40B4-BE49-F238E27FC236}">
                <a16:creationId xmlns:a16="http://schemas.microsoft.com/office/drawing/2014/main" id="{2CA61B7E-90F7-7BE7-A09B-40BBA92F2714}"/>
              </a:ext>
            </a:extLst>
          </p:cNvPr>
          <p:cNvPicPr>
            <a:picLocks noChangeAspect="1"/>
          </p:cNvPicPr>
          <p:nvPr/>
        </p:nvPicPr>
        <p:blipFill>
          <a:blip r:embed="rId2"/>
          <a:stretch>
            <a:fillRect/>
          </a:stretch>
        </p:blipFill>
        <p:spPr>
          <a:xfrm>
            <a:off x="5803899" y="0"/>
            <a:ext cx="6388101" cy="6858000"/>
          </a:xfrm>
          <a:prstGeom prst="rect">
            <a:avLst/>
          </a:prstGeom>
        </p:spPr>
      </p:pic>
    </p:spTree>
    <p:extLst>
      <p:ext uri="{BB962C8B-B14F-4D97-AF65-F5344CB8AC3E}">
        <p14:creationId xmlns:p14="http://schemas.microsoft.com/office/powerpoint/2010/main" val="1622253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20E0E-0286-92E1-FEB4-A4239DE53EBD}"/>
              </a:ext>
            </a:extLst>
          </p:cNvPr>
          <p:cNvSpPr>
            <a:spLocks noGrp="1"/>
          </p:cNvSpPr>
          <p:nvPr>
            <p:ph type="title"/>
          </p:nvPr>
        </p:nvSpPr>
        <p:spPr>
          <a:xfrm>
            <a:off x="914399" y="834635"/>
            <a:ext cx="4635501" cy="5413765"/>
          </a:xfrm>
        </p:spPr>
        <p:txBody>
          <a:bodyPr/>
          <a:lstStyle/>
          <a:p>
            <a:r>
              <a:rPr lang="en-US" sz="2800" dirty="0">
                <a:latin typeface="Calibri" panose="020F0502020204030204" pitchFamily="34" charset="0"/>
                <a:cs typeface="Calibri" panose="020F0502020204030204" pitchFamily="34" charset="0"/>
              </a:rPr>
              <a:t>3.Bar </a:t>
            </a:r>
            <a:r>
              <a:rPr lang="en-US" sz="3200" dirty="0">
                <a:latin typeface="Calibri" panose="020F0502020204030204" pitchFamily="34" charset="0"/>
                <a:cs typeface="Calibri" panose="020F0502020204030204" pitchFamily="34" charset="0"/>
              </a:rPr>
              <a:t>Chart</a:t>
            </a:r>
            <a:br>
              <a:rPr lang="en-US" dirty="0"/>
            </a:br>
            <a:br>
              <a:rPr lang="en-US" dirty="0">
                <a:solidFill>
                  <a:schemeClr val="tx1"/>
                </a:solidFill>
              </a:rPr>
            </a:br>
            <a:r>
              <a:rPr lang="en-US" sz="2000" b="0" cap="none" dirty="0">
                <a:solidFill>
                  <a:schemeClr val="tx1"/>
                </a:solidFill>
                <a:latin typeface="Calibri" panose="020F0502020204030204" pitchFamily="34" charset="0"/>
                <a:cs typeface="Calibri" panose="020F0502020204030204" pitchFamily="34" charset="0"/>
              </a:rPr>
              <a:t>Bar charts summarize average feature values for each cluster.</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They provide a simple way to compare how features vary between clusters.</a:t>
            </a:r>
            <a:br>
              <a:rPr lang="en-US" sz="200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A bar chart shows mean values (</a:t>
            </a:r>
            <a:r>
              <a:rPr lang="en-US" sz="2000" b="0" cap="none" dirty="0" err="1">
                <a:solidFill>
                  <a:schemeClr val="tx1"/>
                </a:solidFill>
                <a:latin typeface="Calibri" panose="020F0502020204030204" pitchFamily="34" charset="0"/>
                <a:cs typeface="Calibri" panose="020F0502020204030204" pitchFamily="34" charset="0"/>
              </a:rPr>
              <a:t>e.g</a:t>
            </a:r>
            <a:r>
              <a:rPr lang="en-US" sz="2000" b="0" cap="none" dirty="0">
                <a:solidFill>
                  <a:schemeClr val="tx1"/>
                </a:solidFill>
                <a:latin typeface="Calibri" panose="020F0502020204030204" pitchFamily="34" charset="0"/>
                <a:cs typeface="Calibri" panose="020F0502020204030204" pitchFamily="34" charset="0"/>
              </a:rPr>
              <a:t>, Average danceability, tempo, energy) for every cluster.</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It helps identify the dominant features in each group — for instance, cluster 0 might have high danceability and tempo, representing upbeat songs.</a:t>
            </a:r>
            <a:br>
              <a:rPr lang="en-US" dirty="0">
                <a:solidFill>
                  <a:schemeClr val="tx1"/>
                </a:solidFill>
              </a:rPr>
            </a:br>
            <a:br>
              <a:rPr lang="en-US" dirty="0"/>
            </a:br>
            <a:endParaRPr lang="en-US" dirty="0"/>
          </a:p>
        </p:txBody>
      </p:sp>
      <p:sp>
        <p:nvSpPr>
          <p:cNvPr id="3" name="Slide Number Placeholder 2">
            <a:extLst>
              <a:ext uri="{FF2B5EF4-FFF2-40B4-BE49-F238E27FC236}">
                <a16:creationId xmlns:a16="http://schemas.microsoft.com/office/drawing/2014/main" id="{A71D8C8B-C813-431B-6D91-F32522C581DF}"/>
              </a:ext>
            </a:extLst>
          </p:cNvPr>
          <p:cNvSpPr>
            <a:spLocks noGrp="1"/>
          </p:cNvSpPr>
          <p:nvPr>
            <p:ph type="sldNum" sz="quarter" idx="10"/>
          </p:nvPr>
        </p:nvSpPr>
        <p:spPr/>
        <p:txBody>
          <a:bodyPr/>
          <a:lstStyle/>
          <a:p>
            <a:fld id="{48F63A3B-78C7-47BE-AE5E-E10140E04643}" type="slidenum">
              <a:rPr lang="en-US" smtClean="0"/>
              <a:pPr/>
              <a:t>15</a:t>
            </a:fld>
            <a:endParaRPr lang="en-US" dirty="0"/>
          </a:p>
        </p:txBody>
      </p:sp>
      <p:pic>
        <p:nvPicPr>
          <p:cNvPr id="7" name="Picture 6">
            <a:extLst>
              <a:ext uri="{FF2B5EF4-FFF2-40B4-BE49-F238E27FC236}">
                <a16:creationId xmlns:a16="http://schemas.microsoft.com/office/drawing/2014/main" id="{704D41DE-E733-0A12-FB09-0EB053F02E0F}"/>
              </a:ext>
            </a:extLst>
          </p:cNvPr>
          <p:cNvPicPr>
            <a:picLocks noChangeAspect="1"/>
          </p:cNvPicPr>
          <p:nvPr/>
        </p:nvPicPr>
        <p:blipFill>
          <a:blip r:embed="rId2"/>
          <a:stretch>
            <a:fillRect/>
          </a:stretch>
        </p:blipFill>
        <p:spPr>
          <a:xfrm>
            <a:off x="5549900" y="0"/>
            <a:ext cx="6642100" cy="6858000"/>
          </a:xfrm>
          <a:prstGeom prst="rect">
            <a:avLst/>
          </a:prstGeom>
        </p:spPr>
      </p:pic>
    </p:spTree>
    <p:extLst>
      <p:ext uri="{BB962C8B-B14F-4D97-AF65-F5344CB8AC3E}">
        <p14:creationId xmlns:p14="http://schemas.microsoft.com/office/powerpoint/2010/main" val="462869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056AD-A1C6-AFA5-5F51-8400B0D80D5F}"/>
              </a:ext>
            </a:extLst>
          </p:cNvPr>
          <p:cNvSpPr>
            <a:spLocks noGrp="1"/>
          </p:cNvSpPr>
          <p:nvPr>
            <p:ph type="title"/>
          </p:nvPr>
        </p:nvSpPr>
        <p:spPr>
          <a:xfrm>
            <a:off x="914399" y="834635"/>
            <a:ext cx="4864101" cy="5375665"/>
          </a:xfrm>
        </p:spPr>
        <p:txBody>
          <a:bodyPr/>
          <a:lstStyle/>
          <a:p>
            <a:r>
              <a:rPr lang="en-US" sz="3200" dirty="0">
                <a:latin typeface="Calibri" panose="020F0502020204030204" pitchFamily="34" charset="0"/>
                <a:cs typeface="Calibri" panose="020F0502020204030204" pitchFamily="34" charset="0"/>
              </a:rPr>
              <a:t>4.Distribution Plot</a:t>
            </a:r>
            <a:br>
              <a:rPr lang="en-US" sz="32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Distribution plots (like histograms or KDE plots) show the spread of a single feature across clusters.</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We plotted distributions of features like danceability, tempo, and valence.</a:t>
            </a:r>
            <a:br>
              <a:rPr lang="en-US" sz="2000" b="0" cap="none" dirty="0">
                <a:solidFill>
                  <a:schemeClr val="tx1"/>
                </a:solidFill>
                <a:latin typeface="Calibri" panose="020F0502020204030204" pitchFamily="34" charset="0"/>
                <a:cs typeface="Calibri" panose="020F0502020204030204" pitchFamily="34" charset="0"/>
              </a:rPr>
            </a:br>
            <a:r>
              <a:rPr lang="en-US" sz="2000" b="0" cap="none" dirty="0">
                <a:solidFill>
                  <a:schemeClr val="tx1"/>
                </a:solidFill>
                <a:latin typeface="Calibri" panose="020F0502020204030204" pitchFamily="34" charset="0"/>
                <a:cs typeface="Calibri" panose="020F0502020204030204" pitchFamily="34" charset="0"/>
              </a:rPr>
              <a:t>This helped analyze how each feature is distributed among clusters — for example, some clusters may have more slow-tempo songs, while others have higher energy.</a:t>
            </a:r>
            <a:br>
              <a:rPr lang="en-US" sz="1600" dirty="0"/>
            </a:br>
            <a:br>
              <a:rPr lang="en-US" sz="32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endParaRPr lang="en-US" sz="3200" dirty="0">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FC00F6D3-38BE-1D21-5A8F-CEB8C625CEA7}"/>
              </a:ext>
            </a:extLst>
          </p:cNvPr>
          <p:cNvSpPr>
            <a:spLocks noGrp="1"/>
          </p:cNvSpPr>
          <p:nvPr>
            <p:ph type="sldNum" sz="quarter" idx="10"/>
          </p:nvPr>
        </p:nvSpPr>
        <p:spPr/>
        <p:txBody>
          <a:bodyPr/>
          <a:lstStyle/>
          <a:p>
            <a:fld id="{48F63A3B-78C7-47BE-AE5E-E10140E04643}" type="slidenum">
              <a:rPr lang="en-US" smtClean="0"/>
              <a:pPr/>
              <a:t>16</a:t>
            </a:fld>
            <a:endParaRPr lang="en-US" dirty="0"/>
          </a:p>
        </p:txBody>
      </p:sp>
      <p:pic>
        <p:nvPicPr>
          <p:cNvPr id="7" name="Picture 6">
            <a:extLst>
              <a:ext uri="{FF2B5EF4-FFF2-40B4-BE49-F238E27FC236}">
                <a16:creationId xmlns:a16="http://schemas.microsoft.com/office/drawing/2014/main" id="{2A9E9680-BC95-F557-A2D7-058AC4DD94E4}"/>
              </a:ext>
            </a:extLst>
          </p:cNvPr>
          <p:cNvPicPr>
            <a:picLocks noChangeAspect="1"/>
          </p:cNvPicPr>
          <p:nvPr/>
        </p:nvPicPr>
        <p:blipFill rotWithShape="1">
          <a:blip r:embed="rId2"/>
          <a:srcRect l="1344" t="1296"/>
          <a:stretch/>
        </p:blipFill>
        <p:spPr>
          <a:xfrm>
            <a:off x="5664200" y="0"/>
            <a:ext cx="6527800" cy="6858000"/>
          </a:xfrm>
          <a:prstGeom prst="rect">
            <a:avLst/>
          </a:prstGeom>
        </p:spPr>
      </p:pic>
    </p:spTree>
    <p:extLst>
      <p:ext uri="{BB962C8B-B14F-4D97-AF65-F5344CB8AC3E}">
        <p14:creationId xmlns:p14="http://schemas.microsoft.com/office/powerpoint/2010/main" val="2192278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1057274"/>
            <a:ext cx="7843837" cy="1012782"/>
          </a:xfrm>
        </p:spPr>
        <p:txBody>
          <a:bodyPr/>
          <a:lstStyle/>
          <a:p>
            <a:r>
              <a:rPr lang="en-US" i="1" u="sng" dirty="0"/>
              <a:t>Conclusion</a:t>
            </a:r>
            <a:endParaRPr lang="en-US" dirty="0"/>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400" y="2331791"/>
            <a:ext cx="6903076" cy="3721817"/>
          </a:xfrm>
        </p:spPr>
        <p:txBody>
          <a:bodyPr>
            <a:normAutofit/>
          </a:bodyPr>
          <a:lstStyle/>
          <a:p>
            <a:r>
              <a:rPr lang="en-US" sz="2000" dirty="0">
                <a:solidFill>
                  <a:schemeClr val="tx1"/>
                </a:solidFill>
                <a:latin typeface="Calibri" panose="020F0502020204030204" pitchFamily="34" charset="0"/>
                <a:cs typeface="Calibri" panose="020F0502020204030204" pitchFamily="34" charset="0"/>
              </a:rPr>
              <a:t>	The project grouped songs based on their audio features using K-Means clustering, forming three distinct music clusters. PCA, heatmaps, and bar charts helped visualize and understand song similarities. This clustering approach can support automatic playlist creation, music recommendations, and listener mood analysis.</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17</a:t>
            </a:fld>
            <a:endParaRPr lang="en-US" dirty="0"/>
          </a:p>
        </p:txBody>
      </p:sp>
      <p:pic>
        <p:nvPicPr>
          <p:cNvPr id="9" name="Picture Placeholder 8">
            <a:extLst>
              <a:ext uri="{FF2B5EF4-FFF2-40B4-BE49-F238E27FC236}">
                <a16:creationId xmlns:a16="http://schemas.microsoft.com/office/drawing/2014/main" id="{D8815028-47CC-1737-77AB-D1CADB43EE30}"/>
              </a:ext>
            </a:extLst>
          </p:cNvPr>
          <p:cNvPicPr>
            <a:picLocks noGrp="1" noChangeAspect="1"/>
          </p:cNvPicPr>
          <p:nvPr>
            <p:ph type="pic" sz="quarter" idx="14"/>
          </p:nvPr>
        </p:nvPicPr>
        <p:blipFill>
          <a:blip r:embed="rId3">
            <a:extLst>
              <a:ext uri="{837473B0-CC2E-450A-ABE3-18F120FF3D39}">
                <a1611:picAttrSrcUrl xmlns:a1611="http://schemas.microsoft.com/office/drawing/2016/11/main" r:id="rId4"/>
              </a:ext>
            </a:extLst>
          </a:blip>
          <a:srcRect l="19088" r="19088"/>
          <a:stretch>
            <a:fillRect/>
          </a:stretch>
        </p:blipFill>
        <p:spPr>
          <a:xfrm>
            <a:off x="8989454" y="0"/>
            <a:ext cx="3202546" cy="6858000"/>
          </a:xfrm>
        </p:spPr>
      </p:pic>
    </p:spTree>
    <p:extLst>
      <p:ext uri="{BB962C8B-B14F-4D97-AF65-F5344CB8AC3E}">
        <p14:creationId xmlns:p14="http://schemas.microsoft.com/office/powerpoint/2010/main" val="4072101725"/>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{9FA61626-DDB4-40EA-AE6F-13C077416633}TF8a9b5915-b8c7-461e-8cdd-693d48b5e32371f7b7e2_win32-4bf0b9a2ea37</Template>
  <TotalTime>291</TotalTime>
  <Words>1450</Words>
  <Application>Microsoft Office PowerPoint</Application>
  <PresentationFormat>Widescreen</PresentationFormat>
  <Paragraphs>86</Paragraphs>
  <Slides>17</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Black</vt:lpstr>
      <vt:lpstr>Arial Unicode MS</vt:lpstr>
      <vt:lpstr>Calibri</vt:lpstr>
      <vt:lpstr>Sabon Next LT</vt:lpstr>
      <vt:lpstr>Custom</vt:lpstr>
      <vt:lpstr>Amazon Music Clustering</vt:lpstr>
      <vt:lpstr>agenda</vt:lpstr>
      <vt:lpstr>INTRODUCTION   This project focuses on analyzing and grouping songs from amazon music using machine learning techniques. By applying clustering algorithms like   K-Means and DBSCAN, songs are grouped based on their musical features such as danceability, energy, tempo, valence, and loudness.  The main goal is to discover patterns and similarities between songs so that we can create meaningful clusters. This helps in better playlist recommendations, user experience enhancement, and trend analysis in the music industry.  </vt:lpstr>
      <vt:lpstr>OBJECTIVES  The main objective of this project is to group songs with similar musical characteristics using clustering techniques. By analyzing features such as danceability, tempo, energy, and valence, the project aims to:  identify hidden patterns and similarities among songs.  Create clusters that represent different moods or genres.  Help in automatic playlist creation and music recommendation.  Provide insights for artists, listeners, and music platforms to understand audience preferences. </vt:lpstr>
      <vt:lpstr>PowerPoint Presentation</vt:lpstr>
      <vt:lpstr>PowerPoint Presentation</vt:lpstr>
      <vt:lpstr>PowerPoint Presentation</vt:lpstr>
      <vt:lpstr>PowerPoint Presentation</vt:lpstr>
      <vt:lpstr>CLUSTERING METHODOLOGY</vt:lpstr>
      <vt:lpstr>PowerPoint Presentation</vt:lpstr>
      <vt:lpstr>PowerPoint Presentation</vt:lpstr>
      <vt:lpstr>VISUALIZATION</vt:lpstr>
      <vt:lpstr>1.PCA  PCA was used to reduce high-dimensional data into 2 or 3 components while preserving most of the variance. Each point in the PCA scatter plot represents a song, and the colors represent clusters formed by k-means. This helps us see clear separation or overlap among music clusters, identifying patterns like energetic vs calm songs. </vt:lpstr>
      <vt:lpstr>      2.Heatmap  A heatmap visually shows the average feature values per cluster. It helps us compare clusters based on characteristics like energy, tempo, and danceability. Each row represents a cluster, and each column represents a feature. The color intensity indicates the value — for example, darker shades for higher energy or tempo. It helps interpret what makes each cluster unique (eg: Cluster 1 = energetic songs, cluster 2 = acoustic songs).  </vt:lpstr>
      <vt:lpstr>3.Bar Chart  Bar charts summarize average feature values for each cluster. They provide a simple way to compare how features vary between clusters. A bar chart shows mean values (e.g, Average danceability, tempo, energy) for every cluster. It helps identify the dominant features in each group — for instance, cluster 0 might have high danceability and tempo, representing upbeat songs.  </vt:lpstr>
      <vt:lpstr>4.Distribution Plot  Distribution plots (like histograms or KDE plots) show the spread of a single feature across clusters. We plotted distributions of features like danceability, tempo, and valence. This helped analyze how each feature is distributed among clusters — for example, some clusters may have more slow-tempo songs, while others have higher energy.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Music Clustering</dc:title>
  <dc:subject/>
  <dc:creator>deepikarv22@gmail.com</dc:creator>
  <cp:lastModifiedBy>deepikarv22@gmail.com</cp:lastModifiedBy>
  <cp:revision>1</cp:revision>
  <dcterms:created xsi:type="dcterms:W3CDTF">2025-11-03T12:09:30Z</dcterms:created>
  <dcterms:modified xsi:type="dcterms:W3CDTF">2025-11-03T17:01:16Z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